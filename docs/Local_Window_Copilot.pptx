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0720" cy="685728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7280"/>
          </a:xfrm>
          <a:prstGeom prst="line">
            <a:avLst/>
          </a:prstGeom>
          <a:ln w="6350">
            <a:solidFill>
              <a:srgbClr val="2A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71440" y="0"/>
            <a:ext cx="0" cy="6857280"/>
          </a:xfrm>
          <a:prstGeom prst="line">
            <a:avLst/>
          </a:prstGeom>
          <a:ln w="6350">
            <a:solidFill>
              <a:srgbClr val="2A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42880" y="0"/>
            <a:ext cx="0" cy="6857280"/>
          </a:xfrm>
          <a:prstGeom prst="line">
            <a:avLst/>
          </a:prstGeom>
          <a:ln w="6350">
            <a:solidFill>
              <a:srgbClr val="2A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714320" y="0"/>
            <a:ext cx="0" cy="6857280"/>
          </a:xfrm>
          <a:prstGeom prst="line">
            <a:avLst/>
          </a:prstGeom>
          <a:ln w="6350">
            <a:solidFill>
              <a:srgbClr val="2A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285760" y="0"/>
            <a:ext cx="0" cy="6857280"/>
          </a:xfrm>
          <a:prstGeom prst="line">
            <a:avLst/>
          </a:prstGeom>
          <a:ln w="6350">
            <a:solidFill>
              <a:srgbClr val="2A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857200" y="0"/>
            <a:ext cx="0" cy="6857280"/>
          </a:xfrm>
          <a:prstGeom prst="line">
            <a:avLst/>
          </a:prstGeom>
          <a:ln w="6350">
            <a:solidFill>
              <a:srgbClr val="2A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428640" y="0"/>
            <a:ext cx="0" cy="6857280"/>
          </a:xfrm>
          <a:prstGeom prst="line">
            <a:avLst/>
          </a:prstGeom>
          <a:ln w="6350">
            <a:solidFill>
              <a:srgbClr val="2A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000080" y="0"/>
            <a:ext cx="0" cy="6857280"/>
          </a:xfrm>
          <a:prstGeom prst="line">
            <a:avLst/>
          </a:prstGeom>
          <a:ln w="6350">
            <a:solidFill>
              <a:srgbClr val="2A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1520" y="0"/>
            <a:ext cx="0" cy="6857280"/>
          </a:xfrm>
          <a:prstGeom prst="line">
            <a:avLst/>
          </a:prstGeom>
          <a:ln w="6350">
            <a:solidFill>
              <a:srgbClr val="2A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42960" y="0"/>
            <a:ext cx="0" cy="6857280"/>
          </a:xfrm>
          <a:prstGeom prst="line">
            <a:avLst/>
          </a:prstGeom>
          <a:ln w="6350">
            <a:solidFill>
              <a:srgbClr val="2A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4400" y="0"/>
            <a:ext cx="0" cy="6857280"/>
          </a:xfrm>
          <a:prstGeom prst="line">
            <a:avLst/>
          </a:prstGeom>
          <a:ln w="6350">
            <a:solidFill>
              <a:srgbClr val="2A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285840" y="0"/>
            <a:ext cx="0" cy="6857280"/>
          </a:xfrm>
          <a:prstGeom prst="line">
            <a:avLst/>
          </a:prstGeom>
          <a:ln w="6350">
            <a:solidFill>
              <a:srgbClr val="2A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57280" y="0"/>
            <a:ext cx="0" cy="6857280"/>
          </a:xfrm>
          <a:prstGeom prst="line">
            <a:avLst/>
          </a:prstGeom>
          <a:ln w="6350">
            <a:solidFill>
              <a:srgbClr val="2A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28720" y="0"/>
            <a:ext cx="0" cy="6857280"/>
          </a:xfrm>
          <a:prstGeom prst="line">
            <a:avLst/>
          </a:prstGeom>
          <a:ln w="6350">
            <a:solidFill>
              <a:srgbClr val="2A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000160" y="0"/>
            <a:ext cx="0" cy="6857280"/>
          </a:xfrm>
          <a:prstGeom prst="line">
            <a:avLst/>
          </a:prstGeom>
          <a:ln w="6350">
            <a:solidFill>
              <a:srgbClr val="2A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571600" y="0"/>
            <a:ext cx="0" cy="6857280"/>
          </a:xfrm>
          <a:prstGeom prst="line">
            <a:avLst/>
          </a:prstGeom>
          <a:ln w="6350">
            <a:solidFill>
              <a:srgbClr val="2A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143040" y="0"/>
            <a:ext cx="0" cy="6857280"/>
          </a:xfrm>
          <a:prstGeom prst="line">
            <a:avLst/>
          </a:prstGeom>
          <a:ln w="6350">
            <a:solidFill>
              <a:srgbClr val="2A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714480" y="0"/>
            <a:ext cx="0" cy="6857280"/>
          </a:xfrm>
          <a:prstGeom prst="line">
            <a:avLst/>
          </a:prstGeom>
          <a:ln w="6350">
            <a:solidFill>
              <a:srgbClr val="2A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285920" y="0"/>
            <a:ext cx="0" cy="6857280"/>
          </a:xfrm>
          <a:prstGeom prst="line">
            <a:avLst/>
          </a:prstGeom>
          <a:ln w="6350">
            <a:solidFill>
              <a:srgbClr val="2A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857360" y="0"/>
            <a:ext cx="0" cy="6857280"/>
          </a:xfrm>
          <a:prstGeom prst="line">
            <a:avLst/>
          </a:prstGeom>
          <a:ln w="6350">
            <a:solidFill>
              <a:srgbClr val="2A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428800" y="0"/>
            <a:ext cx="0" cy="6857280"/>
          </a:xfrm>
          <a:prstGeom prst="line">
            <a:avLst/>
          </a:prstGeom>
          <a:ln w="6350">
            <a:solidFill>
              <a:srgbClr val="2A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000240" y="0"/>
            <a:ext cx="0" cy="6857280"/>
          </a:xfrm>
          <a:prstGeom prst="line">
            <a:avLst/>
          </a:prstGeom>
          <a:ln w="6350">
            <a:solidFill>
              <a:srgbClr val="2A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0"/>
            <a:ext cx="12190720" cy="0"/>
          </a:xfrm>
          <a:prstGeom prst="line">
            <a:avLst/>
          </a:prstGeom>
          <a:ln w="6350">
            <a:solidFill>
              <a:srgbClr val="2A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71440"/>
            <a:ext cx="12190720" cy="0"/>
          </a:xfrm>
          <a:prstGeom prst="line">
            <a:avLst/>
          </a:prstGeom>
          <a:ln w="6350">
            <a:solidFill>
              <a:srgbClr val="2A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142880"/>
            <a:ext cx="12190720" cy="0"/>
          </a:xfrm>
          <a:prstGeom prst="line">
            <a:avLst/>
          </a:prstGeom>
          <a:ln w="6350">
            <a:solidFill>
              <a:srgbClr val="2A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714320"/>
            <a:ext cx="12190720" cy="0"/>
          </a:xfrm>
          <a:prstGeom prst="line">
            <a:avLst/>
          </a:prstGeom>
          <a:ln w="6350">
            <a:solidFill>
              <a:srgbClr val="2A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285760"/>
            <a:ext cx="12190720" cy="0"/>
          </a:xfrm>
          <a:prstGeom prst="line">
            <a:avLst/>
          </a:prstGeom>
          <a:ln w="6350">
            <a:solidFill>
              <a:srgbClr val="2A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857200"/>
            <a:ext cx="12190720" cy="0"/>
          </a:xfrm>
          <a:prstGeom prst="line">
            <a:avLst/>
          </a:prstGeom>
          <a:ln w="6350">
            <a:solidFill>
              <a:srgbClr val="2A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428640"/>
            <a:ext cx="12190720" cy="0"/>
          </a:xfrm>
          <a:prstGeom prst="line">
            <a:avLst/>
          </a:prstGeom>
          <a:ln w="6350">
            <a:solidFill>
              <a:srgbClr val="2A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000080"/>
            <a:ext cx="12190720" cy="0"/>
          </a:xfrm>
          <a:prstGeom prst="line">
            <a:avLst/>
          </a:prstGeom>
          <a:ln w="6350">
            <a:solidFill>
              <a:srgbClr val="2A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571520"/>
            <a:ext cx="12190720" cy="0"/>
          </a:xfrm>
          <a:prstGeom prst="line">
            <a:avLst/>
          </a:prstGeom>
          <a:ln w="6350">
            <a:solidFill>
              <a:srgbClr val="2A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5142960"/>
            <a:ext cx="12190720" cy="0"/>
          </a:xfrm>
          <a:prstGeom prst="line">
            <a:avLst/>
          </a:prstGeom>
          <a:ln w="6350">
            <a:solidFill>
              <a:srgbClr val="2A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714400"/>
            <a:ext cx="12190720" cy="0"/>
          </a:xfrm>
          <a:prstGeom prst="line">
            <a:avLst/>
          </a:prstGeom>
          <a:ln w="6350">
            <a:solidFill>
              <a:srgbClr val="2A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285840"/>
            <a:ext cx="12190720" cy="0"/>
          </a:xfrm>
          <a:prstGeom prst="line">
            <a:avLst/>
          </a:prstGeom>
          <a:ln w="6350">
            <a:solidFill>
              <a:srgbClr val="2A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61920" y="1904800"/>
            <a:ext cx="6666800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DD0E1"/>
                </a:solidFill>
                <a:latin typeface="Microsoft YaHei"/>
              </a:rPr>
              <a:t>LOCAL · WINDOWS · PRIVACY-FIRST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1920" y="2285760"/>
            <a:ext cx="8571600" cy="171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>
                <a:solidFill>
                  <a:srgbClr val="E6EDF3"/>
                </a:solidFill>
                <a:latin typeface="Microsoft YaHei"/>
              </a:rPr>
              <a:t>Local Window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>
                <a:solidFill>
                  <a:srgbClr val="4DD0E1"/>
                </a:solidFill>
                <a:latin typeface="Microsoft YaHei"/>
              </a:rPr>
              <a:t>Copilot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1920" y="3809600"/>
            <a:ext cx="7238240" cy="57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6EDF3"/>
                </a:solidFill>
                <a:latin typeface="Microsoft YaHei"/>
              </a:rPr>
              <a:t>运行在 Windows 本地桌面的 AI 伙伴：观察前台窗口、按需检索上下文、用可追溯证据回答。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1920" y="4666760"/>
            <a:ext cx="8571600" cy="76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AA7B8"/>
                </a:solidFill>
                <a:latin typeface="Microsoft YaHei"/>
              </a:rPr>
              <a:t>汇报人　</a:t>
            </a:r>
            <a:r>
              <a:rPr sz="1200" b="1">
                <a:solidFill>
                  <a:srgbClr val="E6EDF3"/>
                </a:solidFill>
                <a:latin typeface="Microsoft YaHei"/>
              </a:rPr>
              <a:t>宋林蔚</a:t>
            </a:r>
            <a:r>
              <a:rPr sz="1200" b="0">
                <a:solidFill>
                  <a:srgbClr val="9AA7B8"/>
                </a:solidFill>
                <a:latin typeface="Microsoft YaHei"/>
              </a:rPr>
              <a:t>　　组会　</a:t>
            </a:r>
            <a:r>
              <a:rPr sz="1200" b="1">
                <a:solidFill>
                  <a:srgbClr val="E6EDF3"/>
                </a:solidFill>
                <a:latin typeface="Microsoft YaHei"/>
              </a:rPr>
              <a:t>2026-07-07</a:t>
            </a:r>
            <a:r>
              <a:rPr sz="1200" b="0">
                <a:solidFill>
                  <a:srgbClr val="9AA7B8"/>
                </a:solidFill>
                <a:latin typeface="Microsoft YaHei"/>
              </a:rPr>
              <a:t>　　仓库　</a:t>
            </a:r>
            <a:r>
              <a:rPr sz="1200" b="1">
                <a:solidFill>
                  <a:srgbClr val="E6EDF3"/>
                </a:solidFill>
                <a:latin typeface="Microsoft YaHei"/>
              </a:rPr>
              <a:t>github.com/fjnuslw</a:t>
            </a:r>
          </a:p>
        </p:txBody>
      </p:sp>
      <p:sp>
        <p:nvSpPr>
          <p:cNvPr id="41" name="Oval 40"/>
          <p:cNvSpPr/>
          <p:nvPr/>
        </p:nvSpPr>
        <p:spPr>
          <a:xfrm>
            <a:off x="9524000" y="2095280"/>
            <a:ext cx="1904800" cy="1904800"/>
          </a:xfrm>
          <a:prstGeom prst="ellipse">
            <a:avLst/>
          </a:prstGeom>
          <a:solidFill>
            <a:srgbClr val="1B2330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mascot_id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4480" y="2285760"/>
            <a:ext cx="1523840" cy="11210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0720" cy="685728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440" y="304768"/>
            <a:ext cx="571440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Microsoft YaHei"/>
              </a:rPr>
              <a:t>01 · 项目定位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6880" y="304768"/>
            <a:ext cx="95240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9AA7B8"/>
                </a:solidFill>
                <a:latin typeface="Microsoft YaHei"/>
              </a:rPr>
              <a:t>02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440" y="666680"/>
            <a:ext cx="11047840" cy="47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  <a:latin typeface="Microsoft YaHei"/>
              </a:rPr>
              <a:t>这是什么？不是什么？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440" y="1238120"/>
            <a:ext cx="11047840" cy="57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AA7B8"/>
                </a:solidFill>
                <a:latin typeface="Microsoft YaHei"/>
              </a:rPr>
              <a:t>一句话定位：运行在本地 Windows 桌面的 AI 伙伴，后台把目标窗口截图转成结构化观察，前台在用户提问时按需取证、用证据回答。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440" y="2095280"/>
            <a:ext cx="5333440" cy="2285760"/>
          </a:xfrm>
          <a:prstGeom prst="roundRect">
            <a:avLst>
              <a:gd name="adj" fmla="val 8000"/>
            </a:avLst>
          </a:prstGeom>
          <a:solidFill>
            <a:srgbClr val="121A14"/>
          </a:solidFill>
          <a:ln w="9525">
            <a:solidFill>
              <a:srgbClr val="2E5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016" y="2266712"/>
            <a:ext cx="1904800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EE787"/>
                </a:solidFill>
                <a:latin typeface="Microsoft YaHei"/>
              </a:rPr>
              <a:t>✓ 项目要做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16" y="2590528"/>
            <a:ext cx="4876288" cy="171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9AA7B8"/>
                </a:solidFill>
                <a:latin typeface="Microsoft YaHei"/>
              </a:rPr>
              <a:t>快速观察当前前台窗口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9AA7B8"/>
                </a:solidFill>
                <a:latin typeface="Microsoft YaHei"/>
              </a:rPr>
              <a:t>用本地 VLM 生成结构化观察与关键点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9AA7B8"/>
                </a:solidFill>
                <a:latin typeface="Microsoft YaHei"/>
              </a:rPr>
              <a:t>用户追问时结合观察与短期记忆回答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9AA7B8"/>
                </a:solidFill>
                <a:latin typeface="Microsoft YaHei"/>
              </a:rPr>
              <a:t>本地 RuntimeStore 保存状态与短期记忆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9AA7B8"/>
                </a:solidFill>
                <a:latin typeface="Microsoft YaHei"/>
              </a:rPr>
              <a:t>低打扰、可观测、可复盘、可清空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5840" y="2095280"/>
            <a:ext cx="5333440" cy="2285760"/>
          </a:xfrm>
          <a:prstGeom prst="roundRect">
            <a:avLst>
              <a:gd name="adj" fmla="val 8000"/>
            </a:avLst>
          </a:prstGeom>
          <a:solidFill>
            <a:srgbClr val="1A1214"/>
          </a:solidFill>
          <a:ln w="9525">
            <a:solidFill>
              <a:srgbClr val="5A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4416" y="2266712"/>
            <a:ext cx="1904800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7B72"/>
                </a:solidFill>
                <a:latin typeface="Microsoft YaHei"/>
              </a:rPr>
              <a:t>✕ 明确不做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4416" y="2590528"/>
            <a:ext cx="4876288" cy="171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9AA7B8"/>
                </a:solidFill>
                <a:latin typeface="Microsoft YaHei"/>
              </a:rPr>
              <a:t>不自动点击、输入、提交、操作电脑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9AA7B8"/>
                </a:solidFill>
                <a:latin typeface="Microsoft YaHei"/>
              </a:rPr>
              <a:t>不做复杂规划型自主 Agent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9AA7B8"/>
                </a:solidFill>
                <a:latin typeface="Microsoft YaHei"/>
              </a:rPr>
              <a:t>不做 OCR / UI Automation 主链路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9AA7B8"/>
                </a:solidFill>
                <a:latin typeface="Microsoft YaHei"/>
              </a:rPr>
              <a:t>不做长期人格记忆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9AA7B8"/>
                </a:solidFill>
                <a:latin typeface="Microsoft YaHei"/>
              </a:rPr>
              <a:t>不堆叠 fallback 掩盖主链路问题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440" y="4666760"/>
            <a:ext cx="11047840" cy="1238120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16" y="4838192"/>
            <a:ext cx="285720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DD0E1"/>
                </a:solidFill>
                <a:latin typeface="Microsoft YaHei"/>
              </a:rPr>
              <a:t>产品中心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16" y="5142960"/>
            <a:ext cx="10590688" cy="666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9AA7B8"/>
                </a:solidFill>
                <a:latin typeface="Microsoft YaHei"/>
              </a:rPr>
              <a:t>陪伴式桌面伙伴；截图 + VLM 是</a:t>
            </a:r>
            <a:r>
              <a:rPr sz="1300" b="1">
                <a:solidFill>
                  <a:srgbClr val="E6EDF3"/>
                </a:solidFill>
                <a:latin typeface="Microsoft YaHei"/>
              </a:rPr>
              <a:t>后台感知能力</a:t>
            </a:r>
            <a:r>
              <a:rPr sz="1300" b="0">
                <a:solidFill>
                  <a:srgbClr val="9AA7B8"/>
                </a:solidFill>
                <a:latin typeface="Microsoft YaHei"/>
              </a:rPr>
              <a:t>，不是前台产品本体。默认不汇报屏幕，默认陪伴；只有用户邀请时才进入分析。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0720" cy="685728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440" y="304768"/>
            <a:ext cx="571440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Microsoft YaHei"/>
              </a:rPr>
              <a:t>02 · 核心思想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6880" y="304768"/>
            <a:ext cx="95240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9AA7B8"/>
                </a:solidFill>
                <a:latin typeface="Microsoft YaHei"/>
              </a:rPr>
              <a:t>03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440" y="666680"/>
            <a:ext cx="11047840" cy="47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  <a:latin typeface="Microsoft YaHei"/>
              </a:rPr>
              <a:t>三条主线，职责分离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440" y="1238120"/>
            <a:ext cx="11047840" cy="57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AA7B8"/>
                </a:solidFill>
                <a:latin typeface="Microsoft YaHei"/>
              </a:rPr>
              <a:t>整个项目就是三条互不污染的链路：观察线只产生证据，对话线只承接用户问题，调试线只让一切可审计。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440" y="2095280"/>
            <a:ext cx="3552452" cy="2190520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0016" y="2323856"/>
            <a:ext cx="342864" cy="285720"/>
          </a:xfrm>
          <a:prstGeom prst="roundRect">
            <a:avLst>
              <a:gd name="adj" fmla="val 25000"/>
            </a:avLst>
          </a:prstGeom>
          <a:solidFill>
            <a:srgbClr val="14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016" y="2361952"/>
            <a:ext cx="342864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4DD0E1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16" y="2742912"/>
            <a:ext cx="3095300" cy="28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DD0E1"/>
                </a:solidFill>
                <a:latin typeface="Microsoft YaHei"/>
              </a:rPr>
              <a:t>观察线 · 产生证据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16" y="3123872"/>
            <a:ext cx="3095300" cy="104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AA7B8"/>
                </a:solidFill>
                <a:latin typeface="Microsoft YaHei"/>
              </a:rPr>
              <a:t>目标窗口截图 → MiniCPM-V 结构化观察 → SQLite 记录 + 截图文件。只写证据，不负责对话、不主动建议、不污染长期记忆。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4372" y="2095280"/>
            <a:ext cx="3552452" cy="2190520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42948" y="2323856"/>
            <a:ext cx="342864" cy="285720"/>
          </a:xfrm>
          <a:prstGeom prst="roundRect">
            <a:avLst>
              <a:gd name="adj" fmla="val 25000"/>
            </a:avLst>
          </a:prstGeom>
          <a:solidFill>
            <a:srgbClr val="14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2948" y="2361952"/>
            <a:ext cx="342864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4DD0E1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2948" y="2742912"/>
            <a:ext cx="3095300" cy="28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7C9EFF"/>
                </a:solidFill>
                <a:latin typeface="Microsoft YaHei"/>
              </a:rPr>
              <a:t>对话线 · 按需取证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2948" y="3123872"/>
            <a:ext cx="3095300" cy="104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AA7B8"/>
                </a:solidFill>
                <a:latin typeface="Microsoft YaHei"/>
              </a:rPr>
              <a:t>用户问题 + profile + 会话历史 → 模型自己决定是否调 memory.search(query) → 拿到证据后基于证据回答。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7304" y="2095280"/>
            <a:ext cx="3552452" cy="2190520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85880" y="2323856"/>
            <a:ext cx="342864" cy="285720"/>
          </a:xfrm>
          <a:prstGeom prst="roundRect">
            <a:avLst>
              <a:gd name="adj" fmla="val 25000"/>
            </a:avLst>
          </a:prstGeom>
          <a:solidFill>
            <a:srgbClr val="14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5880" y="2361952"/>
            <a:ext cx="342864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4DD0E1"/>
                </a:solidFill>
                <a:latin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5880" y="2742912"/>
            <a:ext cx="3095300" cy="28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B86B"/>
                </a:solidFill>
                <a:latin typeface="Microsoft YaHei"/>
              </a:rPr>
              <a:t>调试线 · 全程可审计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5880" y="3123872"/>
            <a:ext cx="3095300" cy="104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AA7B8"/>
                </a:solidFill>
                <a:latin typeface="Microsoft YaHei"/>
              </a:rPr>
              <a:t>WebUI 展示 latest / history / 原始 JSON / 截图 / 工具 trace / runtime logs，回答"模型查了什么、拿到哪条记录"。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440" y="4571520"/>
            <a:ext cx="11047840" cy="1333360"/>
          </a:xfrm>
          <a:prstGeom prst="roundRect">
            <a:avLst>
              <a:gd name="adj" fmla="val 8000"/>
            </a:avLst>
          </a:prstGeom>
          <a:solidFill>
            <a:srgbClr val="121F24"/>
          </a:solidFill>
          <a:ln w="9525">
            <a:solidFill>
              <a:srgbClr val="2E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016" y="4742952"/>
            <a:ext cx="285720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DD0E1"/>
                </a:solidFill>
                <a:latin typeface="Microsoft YaHei"/>
              </a:rPr>
              <a:t>设计哲学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016" y="5047720"/>
            <a:ext cx="10590688" cy="76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9AA7B8"/>
                </a:solidFill>
                <a:latin typeface="Microsoft YaHei"/>
              </a:rPr>
              <a:t>主链路不行就</a:t>
            </a:r>
            <a:r>
              <a:rPr sz="1300" b="1">
                <a:solidFill>
                  <a:srgbClr val="FFB86B"/>
                </a:solidFill>
                <a:latin typeface="Microsoft YaHei"/>
              </a:rPr>
              <a:t>明确失败、暂停或提示用户</a:t>
            </a:r>
            <a:r>
              <a:rPr sz="1300" b="0">
                <a:solidFill>
                  <a:srgbClr val="9AA7B8"/>
                </a:solidFill>
                <a:latin typeface="Microsoft YaHei"/>
              </a:rPr>
              <a:t>，不引入掩盖问题的替代链。缺截图、缺观察、工具失败都要</a:t>
            </a:r>
            <a:r>
              <a:rPr sz="1300" b="1">
                <a:solidFill>
                  <a:srgbClr val="E6EDF3"/>
                </a:solidFill>
                <a:latin typeface="Microsoft YaHei"/>
              </a:rPr>
              <a:t>明确暴露</a:t>
            </a:r>
            <a:r>
              <a:rPr sz="1300" b="0">
                <a:solidFill>
                  <a:srgbClr val="9AA7B8"/>
                </a:solidFill>
                <a:latin typeface="Microsoft YaHei"/>
              </a:rPr>
              <a:t>，而不是用泛泛文本兜底。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0720" cy="685728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440" y="304768"/>
            <a:ext cx="571440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Microsoft YaHei"/>
              </a:rPr>
              <a:t>03 · 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6880" y="304768"/>
            <a:ext cx="95240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9AA7B8"/>
                </a:solidFill>
                <a:latin typeface="Microsoft YaHei"/>
              </a:rPr>
              <a:t>04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440" y="666680"/>
            <a:ext cx="11047840" cy="47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  <a:latin typeface="Microsoft YaHei"/>
              </a:rPr>
              <a:t>三层架构：桌面 → 后端 → 本地模型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440" y="1238120"/>
            <a:ext cx="11047840" cy="3428640"/>
          </a:xfrm>
          <a:prstGeom prst="rect">
            <a:avLst/>
          </a:prstGeom>
          <a:solidFill>
            <a:srgbClr val="0E1116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" y="142"/>
            <a:ext cx="1128" cy="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00">
                <a:solidFill>
                  <a:srgbClr val="C9D4E3"/>
                </a:solidFill>
                <a:latin typeface="Consolas"/>
              </a:rPr>
              <a:t>┌──────────────────────────────────────────────────────────────────┐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C9D4E3"/>
                </a:solidFill>
                <a:latin typeface="Consolas"/>
              </a:rPr>
              <a:t>│  Desktop Floating Window                                          │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C9D4E3"/>
                </a:solidFill>
                <a:latin typeface="Consolas"/>
              </a:rPr>
              <a:t>│  Idle / Observing / Analyzing / Privacy / Error  ·  5 种状态     │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C9D4E3"/>
                </a:solidFill>
                <a:latin typeface="Consolas"/>
              </a:rPr>
              <a:t>└──────────────────────────────────────────────────────────────────┘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C9D4E3"/>
                </a:solidFill>
                <a:latin typeface="Consolas"/>
              </a:rPr>
              <a:t>                               │  FastAPI (127.0.0.1:18081)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C9D4E3"/>
                </a:solidFill>
                <a:latin typeface="Consolas"/>
              </a:rPr>
              <a:t>                               ▼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C9D4E3"/>
                </a:solidFill>
                <a:latin typeface="Consolas"/>
              </a:rPr>
              <a:t>┌──────────────────────────────────────────────────────────────────┐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C9D4E3"/>
                </a:solidFill>
                <a:latin typeface="Consolas"/>
              </a:rPr>
              <a:t>│  Backend   assistant.py  ·  window.py  ·  webui.py             │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C9D4E3"/>
                </a:solidFill>
                <a:latin typeface="Consolas"/>
              </a:rPr>
              <a:t>│                                                                  │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C9D4E3"/>
                </a:solidFill>
                <a:latin typeface="Consolas"/>
              </a:rPr>
              <a:t>│  ChatAgent      profile 冻结 → probe → stream(+tools)         │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C9D4E3"/>
                </a:solidFill>
                <a:latin typeface="Consolas"/>
              </a:rPr>
              <a:t>│                 └─ memory.search(query)  ·  runtime trace        │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C9D4E3"/>
                </a:solidFill>
                <a:latin typeface="Consolas"/>
              </a:rPr>
              <a:t>│                                                                  │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C9D4E3"/>
                </a:solidFill>
                <a:latin typeface="Consolas"/>
              </a:rPr>
              <a:t>│  Observation pipeline                                            │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C9D4E3"/>
                </a:solidFill>
                <a:latin typeface="Consolas"/>
              </a:rPr>
              <a:t>│                 ├─ window capture                                │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C9D4E3"/>
                </a:solidFill>
                <a:latin typeface="Consolas"/>
              </a:rPr>
              <a:t>│                 ├─ MiniCPM-V structured observation              │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C9D4E3"/>
                </a:solidFill>
                <a:latin typeface="Consolas"/>
              </a:rPr>
              <a:t>│                 └─ window summary store                          │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C9D4E3"/>
                </a:solidFill>
                <a:latin typeface="Consolas"/>
              </a:rPr>
              <a:t>│                                                                  │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C9D4E3"/>
                </a:solidFill>
                <a:latin typeface="Consolas"/>
              </a:rPr>
              <a:t>│  RuntimeStore   runtime_json · runtime_events · chat_history_fts │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C9D4E3"/>
                </a:solidFill>
                <a:latin typeface="Consolas"/>
              </a:rPr>
              <a:t>└──────────────────────────────────────────────────────────────────┘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C9D4E3"/>
                </a:solidFill>
                <a:latin typeface="Consolas"/>
              </a:rPr>
              <a:t>                               │  OpenAI-compatible API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C9D4E3"/>
                </a:solidFill>
                <a:latin typeface="Consolas"/>
              </a:rPr>
              <a:t>                               ▼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C9D4E3"/>
                </a:solidFill>
                <a:latin typeface="Consolas"/>
              </a:rPr>
              <a:t>┌──────────────────────────────────────────────────────────────────┐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C9D4E3"/>
                </a:solidFill>
                <a:latin typeface="Consolas"/>
              </a:rPr>
              <a:t>│  llama.cpp server  +  MiniCPM-V 4.6  (256K context)         │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C9D4E3"/>
                </a:solidFill>
                <a:latin typeface="Consolas"/>
              </a:rPr>
              <a:t>└──────────────────────────────────────────────────────────────────┘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440" y="4857240"/>
            <a:ext cx="5714400" cy="1047640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016" y="5028672"/>
            <a:ext cx="2857200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DD0E1"/>
                </a:solidFill>
                <a:latin typeface="Microsoft YaHei"/>
              </a:rPr>
              <a:t>关键设计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16" y="5314392"/>
            <a:ext cx="5257248" cy="533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7B8"/>
                </a:solidFill>
                <a:latin typeface="Microsoft YaHei"/>
              </a:rPr>
              <a:t>所有运行时 JSON 状态走 SQLite RuntimeStore；截图存文件系统，SQLite 只存路径/hash。零外部 DB 依赖。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04880" y="4857240"/>
            <a:ext cx="5714400" cy="1047640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33456" y="5028672"/>
            <a:ext cx="2857200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DD0E1"/>
                </a:solidFill>
                <a:latin typeface="Microsoft YaHei"/>
              </a:rPr>
              <a:t>进程边界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33456" y="5314392"/>
            <a:ext cx="5257248" cy="533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7B8"/>
                </a:solidFill>
                <a:latin typeface="Microsoft YaHei"/>
              </a:rPr>
              <a:t>桌面浮窗 ←FastAPI→ Python 后端 ←OpenAI API→ llama.cpp。三层都可独立重启，互不耦合。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0720" cy="685728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440" y="304768"/>
            <a:ext cx="571440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Microsoft YaHei"/>
              </a:rPr>
              <a:t>04 · 观察线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6880" y="304768"/>
            <a:ext cx="95240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9AA7B8"/>
                </a:solidFill>
                <a:latin typeface="Microsoft YaHei"/>
              </a:rPr>
              <a:t>05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440" y="666680"/>
            <a:ext cx="11047840" cy="47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  <a:latin typeface="Microsoft YaHei"/>
              </a:rPr>
              <a:t>观察线：从截图到结构化证据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440" y="1238120"/>
            <a:ext cx="11047840" cy="57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AA7B8"/>
                </a:solidFill>
                <a:latin typeface="Microsoft YaHei"/>
              </a:rPr>
              <a:t>观察线只产生证据，不做对话。输入是窗口截图 + metadata，输出是写入 SQLite 的完整结构化字段 + 截图 PNG。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440" y="2095280"/>
            <a:ext cx="2066708" cy="952400"/>
          </a:xfrm>
          <a:prstGeom prst="roundRect">
            <a:avLst>
              <a:gd name="adj" fmla="val 8000"/>
            </a:avLst>
          </a:prstGeom>
          <a:solidFill>
            <a:srgbClr val="121F24"/>
          </a:solidFill>
          <a:ln w="9525">
            <a:solidFill>
              <a:srgbClr val="2E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776" y="2228616"/>
            <a:ext cx="1800036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DF3"/>
                </a:solidFill>
                <a:latin typeface="Microsoft YaHei"/>
              </a:rPr>
              <a:t>目标窗口选择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776" y="2514336"/>
            <a:ext cx="1800036" cy="47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7B8"/>
                </a:solidFill>
                <a:latin typeface="Microsoft YaHei"/>
              </a:rPr>
              <a:t>排除 Copilot 自身窗 / 优先前台 / 兜底枚举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8148" y="2428620"/>
            <a:ext cx="171432" cy="28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4DD0E1"/>
                </a:solidFill>
                <a:latin typeface="Microsoft Ya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9580" y="2095280"/>
            <a:ext cx="2066708" cy="952400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2916" y="2228616"/>
            <a:ext cx="1800036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DF3"/>
                </a:solidFill>
                <a:latin typeface="Microsoft YaHei"/>
              </a:rPr>
              <a:t>截图捕获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2916" y="2514336"/>
            <a:ext cx="1800036" cy="47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7B8"/>
                </a:solidFill>
                <a:latin typeface="Microsoft YaHei"/>
              </a:rPr>
              <a:t>Win32 + 标题/进程/bounds/hash/捕获时间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6288" y="2428620"/>
            <a:ext cx="171432" cy="28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4DD0E1"/>
                </a:solidFill>
                <a:latin typeface="Microsoft YaHe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7720" y="2095280"/>
            <a:ext cx="2066708" cy="952400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1056" y="2228616"/>
            <a:ext cx="1800036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DF3"/>
                </a:solidFill>
                <a:latin typeface="Microsoft YaHei"/>
              </a:rPr>
              <a:t>VLM 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1056" y="2514336"/>
            <a:ext cx="1800036" cy="47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7B8"/>
                </a:solidFill>
                <a:latin typeface="Microsoft YaHei"/>
              </a:rPr>
              <a:t>MiniCPM-V 按 prompt 契约输出结构化 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428" y="2428620"/>
            <a:ext cx="171432" cy="28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4DD0E1"/>
                </a:solidFill>
                <a:latin typeface="Microsoft YaHe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85860" y="2095280"/>
            <a:ext cx="2066708" cy="952400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19196" y="2228616"/>
            <a:ext cx="1800036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DF3"/>
                </a:solidFill>
                <a:latin typeface="Microsoft YaHei"/>
              </a:rPr>
              <a:t>SQLite 落盘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9196" y="2514336"/>
            <a:ext cx="1800036" cy="47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7B8"/>
                </a:solidFill>
                <a:latin typeface="Microsoft YaHei"/>
              </a:rPr>
              <a:t>latest_analysis + summaries 滚动历史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2568" y="2428620"/>
            <a:ext cx="171432" cy="28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4DD0E1"/>
                </a:solidFill>
                <a:latin typeface="Microsoft YaHe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24000" y="2095280"/>
            <a:ext cx="2066708" cy="952400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57336" y="2228616"/>
            <a:ext cx="1800036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DF3"/>
                </a:solidFill>
                <a:latin typeface="Microsoft YaHei"/>
              </a:rPr>
              <a:t>截图文件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57336" y="2514336"/>
            <a:ext cx="1800036" cy="47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7B8"/>
                </a:solidFill>
                <a:latin typeface="Microsoft YaHei"/>
              </a:rPr>
              <a:t>backend/data/captures/*.png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1440" y="3428640"/>
            <a:ext cx="5714400" cy="2190520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016" y="3600072"/>
            <a:ext cx="380960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DD0E1"/>
                </a:solidFill>
                <a:latin typeface="Microsoft YaHei"/>
              </a:rPr>
              <a:t>结构化字段（每条记录必含）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016" y="3923888"/>
            <a:ext cx="5257248" cy="161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400"/>
              </a:spcAft>
            </a:pPr>
            <a:r>
              <a:rPr sz="1200" b="0">
                <a:solidFill>
                  <a:srgbClr val="9AA7B8"/>
                </a:solidFill>
                <a:latin typeface="Microsoft YaHei"/>
              </a:rPr>
              <a:t>summary / key_points　索引与检索 rank_text</a:t>
            </a:r>
          </a:p>
          <a:p>
            <a:pPr algn="l">
              <a:lnSpc>
                <a:spcPct val="155000"/>
              </a:lnSpc>
              <a:spcAft>
                <a:spcPts val="400"/>
              </a:spcAft>
            </a:pPr>
            <a:r>
              <a:rPr sz="1200" b="0">
                <a:solidFill>
                  <a:srgbClr val="9AA7B8"/>
                </a:solidFill>
                <a:latin typeface="Microsoft YaHei"/>
              </a:rPr>
              <a:t>regions / visible_text / ui_elements　区域级证据</a:t>
            </a:r>
          </a:p>
          <a:p>
            <a:pPr algn="l">
              <a:lnSpc>
                <a:spcPct val="155000"/>
              </a:lnSpc>
              <a:spcAft>
                <a:spcPts val="400"/>
              </a:spcAft>
            </a:pPr>
            <a:r>
              <a:rPr sz="1200" b="0">
                <a:solidFill>
                  <a:srgbClr val="9AA7B8"/>
                </a:solidFill>
                <a:latin typeface="Microsoft YaHei"/>
              </a:rPr>
              <a:t>entities / uncertain_areas　实体 + 诚实标注不确定</a:t>
            </a:r>
          </a:p>
          <a:p>
            <a:pPr algn="l">
              <a:lnSpc>
                <a:spcPct val="155000"/>
              </a:lnSpc>
              <a:spcAft>
                <a:spcPts val="400"/>
              </a:spcAft>
            </a:pPr>
            <a:r>
              <a:rPr sz="1200" b="0">
                <a:solidFill>
                  <a:srgbClr val="9AA7B8"/>
                </a:solidFill>
                <a:latin typeface="Microsoft YaHei"/>
              </a:rPr>
              <a:t>screenshot_path / hash / bounds　可追溯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200" b="0">
                <a:solidFill>
                  <a:srgbClr val="9AA7B8"/>
                </a:solidFill>
                <a:latin typeface="Microsoft YaHei"/>
              </a:rPr>
              <a:t>vision_input　模型输入参数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04880" y="3428640"/>
            <a:ext cx="5714400" cy="2190520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33456" y="3600072"/>
            <a:ext cx="380960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DD0E1"/>
                </a:solidFill>
                <a:latin typeface="Microsoft YaHei"/>
              </a:rPr>
              <a:t>失败分型（不掩盖问题）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33456" y="3923888"/>
            <a:ext cx="5257248" cy="161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200" b="0">
                <a:solidFill>
                  <a:srgbClr val="9AA7B8"/>
                </a:solidFill>
                <a:latin typeface="Microsoft YaHei"/>
              </a:rPr>
              <a:t>capture_failed　没拿到可捕获窗口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200" b="0">
                <a:solidFill>
                  <a:srgbClr val="9AA7B8"/>
                </a:solidFill>
                <a:latin typeface="Microsoft YaHei"/>
              </a:rPr>
              <a:t>vision_failed　VLM 请求失败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200" b="0">
                <a:solidFill>
                  <a:srgbClr val="9AA7B8"/>
                </a:solidFill>
                <a:latin typeface="Microsoft YaHei"/>
              </a:rPr>
              <a:t>vision_length　命中输出上限且无法解析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200" b="0">
                <a:solidFill>
                  <a:srgbClr val="9AA7B8"/>
                </a:solidFill>
                <a:latin typeface="Microsoft YaHei"/>
              </a:rPr>
              <a:t>vision_parse_failed　响应非结构化 JSON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00" b="0">
                <a:solidFill>
                  <a:srgbClr val="9AA7B8"/>
                </a:solidFill>
                <a:latin typeface="Microsoft YaHei"/>
              </a:rPr>
              <a:t>store_failed　SQLite 写入失败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>
                <a:solidFill>
                  <a:srgbClr val="9AA7B8"/>
                </a:solidFill>
                <a:latin typeface="Microsoft YaHei"/>
              </a:rPr>
              <a:t>UI 与日志必须显示真实失败点，</a:t>
            </a:r>
            <a:r>
              <a:rPr sz="1100" b="1">
                <a:solidFill>
                  <a:srgbClr val="FF7B72"/>
                </a:solidFill>
                <a:latin typeface="Microsoft YaHei"/>
              </a:rPr>
              <a:t>不允许</a:t>
            </a:r>
            <a:r>
              <a:rPr sz="1100" b="0">
                <a:solidFill>
                  <a:srgbClr val="9AA7B8"/>
                </a:solidFill>
                <a:latin typeface="Microsoft YaHei"/>
              </a:rPr>
              <a:t>用泛化回答遮盖。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0720" cy="685728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440" y="304768"/>
            <a:ext cx="571440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Microsoft YaHei"/>
              </a:rPr>
              <a:t>05 · 对话线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6880" y="304768"/>
            <a:ext cx="95240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9AA7B8"/>
                </a:solidFill>
                <a:latin typeface="Microsoft YaHei"/>
              </a:rPr>
              <a:t>06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440" y="666680"/>
            <a:ext cx="11047840" cy="47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  <a:latin typeface="Microsoft YaHei"/>
              </a:rPr>
              <a:t>对话线：probe → stream 两段式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440" y="1238120"/>
            <a:ext cx="11047840" cy="57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AA7B8"/>
                </a:solidFill>
                <a:latin typeface="Microsoft YaHei"/>
              </a:rPr>
              <a:t>小 VLM 的 function calling 不稳定——有时会把"调用 memory.search"写成自然语言而非结构化 tool_calls。两段式把这个不稳定性限制在工具决策层。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440" y="1904800"/>
            <a:ext cx="11047840" cy="2285760"/>
          </a:xfrm>
          <a:prstGeom prst="rect">
            <a:avLst/>
          </a:prstGeom>
          <a:solidFill>
            <a:srgbClr val="0E1116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" y="212"/>
            <a:ext cx="1128" cy="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00">
                <a:solidFill>
                  <a:srgbClr val="C9D4E3"/>
                </a:solidFill>
                <a:latin typeface="Consolas"/>
              </a:rPr>
              <a:t>1. probe 阶段   (complete_chat_response + tools)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C9D4E3"/>
                </a:solidFill>
                <a:latin typeface="Consolas"/>
              </a:rPr>
              <a:t>   模型决定是否调 memory.search(query)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C9D4E3"/>
                </a:solidFill>
                <a:latin typeface="Consolas"/>
              </a:rPr>
              <a:t>   → 只读取结构化 tool_calls，content 一律丢弃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C9D4E3"/>
                </a:solidFill>
                <a:latin typeface="Consolas"/>
              </a:rPr>
              <a:t> 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C9D4E3"/>
                </a:solidFill>
                <a:latin typeface="Consolas"/>
              </a:rPr>
              <a:t>2. 工具执行     后端执行检索，生成带 record_id/source 的结果，追加到 messages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C9D4E3"/>
                </a:solidFill>
                <a:latin typeface="Consolas"/>
              </a:rPr>
              <a:t> 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C9D4E3"/>
                </a:solidFill>
                <a:latin typeface="Consolas"/>
              </a:rPr>
              <a:t>3. stream 阶段 (stream_chat + tools)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C9D4E3"/>
                </a:solidFill>
                <a:latin typeface="Consolas"/>
              </a:rPr>
              <a:t>   流式生成最终答案；tools 始终可用，模型仍可在流中发起 tool_calls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C9D4E3"/>
                </a:solidFill>
                <a:latin typeface="Consolas"/>
              </a:rPr>
              <a:t> 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C9D4E3"/>
                </a:solidFill>
                <a:latin typeface="Consolas"/>
              </a:rPr>
              <a:t>4. 流式工具循环  stream 中检测到 tool_calls: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C9D4E3"/>
                </a:solidFill>
                <a:latin typeface="Consolas"/>
              </a:rPr>
              <a:t>   暂停 yield → 执行工具 → 追加结果 → 重新 stream → 继续产出答案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C9D4E3"/>
                </a:solidFill>
                <a:latin typeface="Consolas"/>
              </a:rPr>
              <a:t>   最多 2 轮，防止无限循环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440" y="4476280"/>
            <a:ext cx="5714400" cy="1238120"/>
          </a:xfrm>
          <a:prstGeom prst="roundRect">
            <a:avLst>
              <a:gd name="adj" fmla="val 8000"/>
            </a:avLst>
          </a:prstGeom>
          <a:solidFill>
            <a:srgbClr val="121A14"/>
          </a:solidFill>
          <a:ln w="9525">
            <a:solidFill>
              <a:srgbClr val="2E5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016" y="4628664"/>
            <a:ext cx="2857200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EE787"/>
                </a:solidFill>
                <a:latin typeface="Microsoft YaHei"/>
              </a:rPr>
              <a:t>✓ 这样做解决了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16" y="4933432"/>
            <a:ext cx="5257248" cy="704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300"/>
              </a:spcAft>
            </a:pPr>
            <a:r>
              <a:rPr sz="1200" b="0">
                <a:solidFill>
                  <a:srgbClr val="9AA7B8"/>
                </a:solidFill>
                <a:latin typeface="Microsoft YaHei"/>
              </a:rPr>
              <a:t>probe 失败时 stream 仍有第二次机会调工具</a:t>
            </a:r>
          </a:p>
          <a:p>
            <a:pPr algn="l">
              <a:lnSpc>
                <a:spcPct val="145000"/>
              </a:lnSpc>
              <a:spcAft>
                <a:spcPts val="300"/>
              </a:spcAft>
            </a:pPr>
            <a:r>
              <a:rPr sz="1200" b="0">
                <a:solidFill>
                  <a:srgbClr val="9AA7B8"/>
                </a:solidFill>
                <a:latin typeface="Microsoft YaHei"/>
              </a:rPr>
              <a:t>不会把"我要调用 memory.search"这句自然语言当答案返回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9AA7B8"/>
                </a:solidFill>
                <a:latin typeface="Microsoft YaHei"/>
              </a:rPr>
              <a:t>职责清晰：probe 决策，stream 产出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04880" y="4476280"/>
            <a:ext cx="5714400" cy="1238120"/>
          </a:xfrm>
          <a:prstGeom prst="roundRect">
            <a:avLst>
              <a:gd name="adj" fmla="val 8000"/>
            </a:avLst>
          </a:prstGeom>
          <a:solidFill>
            <a:srgbClr val="1A1214"/>
          </a:solidFill>
          <a:ln w="9525">
            <a:solidFill>
              <a:srgbClr val="5A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33456" y="4628664"/>
            <a:ext cx="2857200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7B72"/>
                </a:solidFill>
                <a:latin typeface="Microsoft YaHei"/>
              </a:rPr>
              <a:t>✕ 禁止回归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33456" y="4933432"/>
            <a:ext cx="5257248" cy="704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300"/>
              </a:spcAft>
            </a:pPr>
            <a:r>
              <a:rPr sz="1200" b="0">
                <a:solidFill>
                  <a:srgbClr val="9AA7B8"/>
                </a:solidFill>
                <a:latin typeface="Microsoft YaHei"/>
              </a:rPr>
              <a:t>把 probe 的 content 当最终答案直接返回</a:t>
            </a:r>
          </a:p>
          <a:p>
            <a:pPr algn="l">
              <a:lnSpc>
                <a:spcPct val="145000"/>
              </a:lnSpc>
              <a:spcAft>
                <a:spcPts val="300"/>
              </a:spcAft>
            </a:pPr>
            <a:r>
              <a:rPr sz="1200" b="0">
                <a:solidFill>
                  <a:srgbClr val="9AA7B8"/>
                </a:solidFill>
                <a:latin typeface="Microsoft YaHei"/>
              </a:rPr>
              <a:t>独立 planner / orchestrator 模型先规划再回答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9AA7B8"/>
                </a:solidFill>
                <a:latin typeface="Microsoft YaHei"/>
              </a:rPr>
              <a:t>默认把 window:latest_analysis 塞进 prompt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0720" cy="685728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440" y="304768"/>
            <a:ext cx="571440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Microsoft YaHei"/>
              </a:rPr>
              <a:t>06 · 工具设计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6880" y="304768"/>
            <a:ext cx="95240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9AA7B8"/>
                </a:solidFill>
                <a:latin typeface="Microsoft YaHei"/>
              </a:rPr>
              <a:t>07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440" y="666680"/>
            <a:ext cx="11047840" cy="47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  <a:latin typeface="Microsoft YaHei"/>
              </a:rPr>
              <a:t>唯一工具：memory.search(query)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440" y="1238120"/>
            <a:ext cx="11047840" cy="57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AA7B8"/>
                </a:solidFill>
                <a:latin typeface="Microsoft YaHei"/>
              </a:rPr>
              <a:t>模型可见工具只有一个。它是证据检索工具，不是固定上下文拼包。返回内容必须与 query 相关，并标明来源。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440" y="1904800"/>
            <a:ext cx="5714400" cy="3619120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016" y="2076232"/>
            <a:ext cx="380960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DD0E1"/>
                </a:solidFill>
                <a:latin typeface="Microsoft YaHei"/>
              </a:rPr>
              <a:t>可检索来源（候选集）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304" y="2400048"/>
            <a:ext cx="152384" cy="19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DD0E1"/>
                </a:solidFill>
                <a:latin typeface="Microsoft YaHe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688" y="2400048"/>
            <a:ext cx="5142960" cy="228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E6EDF3"/>
                </a:solidFill>
                <a:latin typeface="Consolas"/>
              </a:rPr>
              <a:t>window:latest_analysis</a:t>
            </a:r>
            <a:r>
              <a:rPr sz="1200" b="0">
                <a:solidFill>
                  <a:srgbClr val="9AA7B8"/>
                </a:solidFill>
                <a:latin typeface="Microsoft YaHei"/>
              </a:rPr>
              <a:t>　最近一次成功观察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304" y="2666720"/>
            <a:ext cx="152384" cy="19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DD0E1"/>
                </a:solidFill>
                <a:latin typeface="Microsoft YaHe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688" y="2666720"/>
            <a:ext cx="5142960" cy="228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E6EDF3"/>
                </a:solidFill>
                <a:latin typeface="Consolas"/>
              </a:rPr>
              <a:t>window:summaries</a:t>
            </a:r>
            <a:r>
              <a:rPr sz="1200" b="0">
                <a:solidFill>
                  <a:srgbClr val="9AA7B8"/>
                </a:solidFill>
                <a:latin typeface="Microsoft YaHei"/>
              </a:rPr>
              <a:t>　滚动结构化观察历史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304" y="2933392"/>
            <a:ext cx="152384" cy="19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DD0E1"/>
                </a:solidFill>
                <a:latin typeface="Microsoft YaHe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688" y="2933392"/>
            <a:ext cx="5142960" cy="228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E6EDF3"/>
                </a:solidFill>
                <a:latin typeface="Consolas"/>
              </a:rPr>
              <a:t>memory:working:observation</a:t>
            </a:r>
            <a:r>
              <a:rPr sz="1200" b="0">
                <a:solidFill>
                  <a:srgbClr val="9AA7B8"/>
                </a:solidFill>
                <a:latin typeface="Microsoft YaHei"/>
              </a:rPr>
              <a:t>　当前工作观察卡片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304" y="3200064"/>
            <a:ext cx="152384" cy="19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DD0E1"/>
                </a:solidFill>
                <a:latin typeface="Microsoft YaHe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688" y="3200064"/>
            <a:ext cx="5142960" cy="228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E6EDF3"/>
                </a:solidFill>
                <a:latin typeface="Consolas"/>
              </a:rPr>
              <a:t>memory:items</a:t>
            </a:r>
            <a:r>
              <a:rPr sz="1200" b="0">
                <a:solidFill>
                  <a:srgbClr val="9AA7B8"/>
                </a:solidFill>
                <a:latin typeface="Microsoft YaHei"/>
              </a:rPr>
              <a:t>　短期/稳定记忆项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304" y="3466736"/>
            <a:ext cx="152384" cy="19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DD0E1"/>
                </a:solidFill>
                <a:latin typeface="Microsoft YaHe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6688" y="3466736"/>
            <a:ext cx="5142960" cy="228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E6EDF3"/>
                </a:solidFill>
                <a:latin typeface="Consolas"/>
              </a:rPr>
              <a:t>profile</a:t>
            </a:r>
            <a:r>
              <a:rPr sz="1200" b="0">
                <a:solidFill>
                  <a:srgbClr val="9AA7B8"/>
                </a:solidFill>
                <a:latin typeface="Microsoft YaHei"/>
              </a:rPr>
              <a:t>　用户偏好与 persona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304" y="3733408"/>
            <a:ext cx="152384" cy="19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DD0E1"/>
                </a:solidFill>
                <a:latin typeface="Microsoft YaHe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6688" y="3733408"/>
            <a:ext cx="5142960" cy="228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E6EDF3"/>
                </a:solidFill>
                <a:latin typeface="Consolas"/>
              </a:rPr>
              <a:t>assistant:chat:history</a:t>
            </a:r>
            <a:r>
              <a:rPr sz="1200" b="0">
                <a:solidFill>
                  <a:srgbClr val="9AA7B8"/>
                </a:solidFill>
                <a:latin typeface="Microsoft YaHei"/>
              </a:rPr>
              <a:t>　当前运行期对话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304" y="4000080"/>
            <a:ext cx="152384" cy="19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DD0E1"/>
                </a:solidFill>
                <a:latin typeface="Microsoft YaHe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6688" y="4000080"/>
            <a:ext cx="5142960" cy="228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E6EDF3"/>
                </a:solidFill>
                <a:latin typeface="Consolas"/>
              </a:rPr>
              <a:t>chat_history_fts</a:t>
            </a:r>
            <a:r>
              <a:rPr sz="1200" b="0">
                <a:solidFill>
                  <a:srgbClr val="9AA7B8"/>
                </a:solidFill>
                <a:latin typeface="Microsoft YaHei"/>
              </a:rPr>
              <a:t>　跨会话 FTS5 索引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04880" y="1904800"/>
            <a:ext cx="5714400" cy="2095280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33456" y="2076232"/>
            <a:ext cx="380960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DD0E1"/>
                </a:solidFill>
                <a:latin typeface="Microsoft YaHei"/>
              </a:rPr>
              <a:t>ranker：SQLite FTS5 + BM25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33456" y="2400048"/>
            <a:ext cx="5257248" cy="152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200" b="0">
                <a:solidFill>
                  <a:srgbClr val="9AA7B8"/>
                </a:solidFill>
                <a:latin typeface="Microsoft YaHei"/>
              </a:rPr>
              <a:t>内存 SQLite 对候选证据建临时 FTS5 索引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200" b="0">
                <a:solidFill>
                  <a:srgbClr val="9AA7B8"/>
                </a:solidFill>
                <a:latin typeface="Microsoft YaHei"/>
              </a:rPr>
              <a:t>中文 </a:t>
            </a:r>
            <a:r>
              <a:rPr sz="1200" b="1">
                <a:solidFill>
                  <a:srgbClr val="E6EDF3"/>
                </a:solidFill>
                <a:latin typeface="Microsoft YaHei"/>
              </a:rPr>
              <a:t>bigram 双字滑窗</a:t>
            </a:r>
            <a:r>
              <a:rPr sz="1200" b="0">
                <a:solidFill>
                  <a:srgbClr val="9AA7B8"/>
                </a:solidFill>
                <a:latin typeface="Microsoft YaHei"/>
              </a:rPr>
              <a:t>分词，ASCII 整词保留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200" b="0">
                <a:solidFill>
                  <a:srgbClr val="9AA7B8"/>
                </a:solidFill>
                <a:latin typeface="Microsoft YaHei"/>
              </a:rPr>
              <a:t>候选集通常 30-40 条，BM25 区分度充分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1">
                <a:solidFill>
                  <a:srgbClr val="E6EDF3"/>
                </a:solidFill>
                <a:latin typeface="Microsoft YaHei"/>
              </a:rPr>
              <a:t>零 LLM 调用</a:t>
            </a:r>
            <a:r>
              <a:rPr sz="1200" b="0">
                <a:solidFill>
                  <a:srgbClr val="9AA7B8"/>
                </a:solidFill>
                <a:latin typeface="Microsoft YaHei"/>
              </a:rPr>
              <a:t>，毫秒级返回，确定性算法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04880" y="4142940"/>
            <a:ext cx="5714400" cy="1380980"/>
          </a:xfrm>
          <a:prstGeom prst="roundRect">
            <a:avLst>
              <a:gd name="adj" fmla="val 8000"/>
            </a:avLst>
          </a:prstGeom>
          <a:solidFill>
            <a:srgbClr val="1A1214"/>
          </a:solidFill>
          <a:ln w="9525">
            <a:solidFill>
              <a:srgbClr val="5A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3456" y="4314372"/>
            <a:ext cx="380960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7B72"/>
                </a:solidFill>
                <a:latin typeface="Microsoft YaHei"/>
              </a:rPr>
              <a:t>禁止的设计（已废弃）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33456" y="4638188"/>
            <a:ext cx="5257248" cy="85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300"/>
              </a:spcAft>
            </a:pPr>
            <a:r>
              <a:rPr sz="1200" b="0">
                <a:solidFill>
                  <a:srgbClr val="9AA7B8"/>
                </a:solidFill>
                <a:latin typeface="Microsoft YaHei"/>
              </a:rPr>
              <a:t>每次固定返回 latest + recent + memory 大礼包</a:t>
            </a:r>
          </a:p>
          <a:p>
            <a:pPr algn="l">
              <a:lnSpc>
                <a:spcPct val="145000"/>
              </a:lnSpc>
              <a:spcAft>
                <a:spcPts val="300"/>
              </a:spcAft>
            </a:pPr>
            <a:r>
              <a:rPr sz="1200" b="0">
                <a:solidFill>
                  <a:srgbClr val="9AA7B8"/>
                </a:solidFill>
                <a:latin typeface="Microsoft YaHei"/>
              </a:rPr>
              <a:t>用 if "当前" in query 这类关键词判断</a:t>
            </a:r>
          </a:p>
          <a:p>
            <a:pPr algn="l">
              <a:lnSpc>
                <a:spcPct val="145000"/>
              </a:lnSpc>
              <a:spcAft>
                <a:spcPts val="300"/>
              </a:spcAft>
            </a:pPr>
            <a:r>
              <a:rPr sz="1200" b="0">
                <a:solidFill>
                  <a:srgbClr val="9AA7B8"/>
                </a:solidFill>
                <a:latin typeface="Microsoft YaHei"/>
              </a:rPr>
              <a:t>用 substring 命中判断情绪/意图/记忆相关性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9AA7B8"/>
                </a:solidFill>
                <a:latin typeface="Microsoft YaHei"/>
              </a:rPr>
              <a:t>用同一 VLM 做 reranker（连锁失败源）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0720" cy="685728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440" y="304768"/>
            <a:ext cx="571440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Microsoft YaHei"/>
              </a:rPr>
              <a:t>07 · 上下文管理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6880" y="304768"/>
            <a:ext cx="95240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9AA7B8"/>
                </a:solidFill>
                <a:latin typeface="Microsoft YaHei"/>
              </a:rPr>
              <a:t>08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440" y="666680"/>
            <a:ext cx="11047840" cy="47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  <a:latin typeface="Microsoft YaHei"/>
              </a:rPr>
              <a:t>上下文分层 + prefix cache 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440" y="1238120"/>
            <a:ext cx="11047840" cy="57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AA7B8"/>
                </a:solidFill>
                <a:latin typeface="Microsoft YaHei"/>
              </a:rPr>
              <a:t>不同来源的上下文进入方式不同，避免互相污染；profile 在会话级冻结以保证 llama.cpp prefix cache 命中率。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440" y="1904800"/>
            <a:ext cx="2857200" cy="304768"/>
          </a:xfrm>
          <a:prstGeom prst="rect">
            <a:avLst/>
          </a:prstGeom>
          <a:solidFill>
            <a:srgbClr val="142A2E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776" y="1961944"/>
            <a:ext cx="259052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Microsoft YaHei"/>
              </a:rPr>
              <a:t>上下文层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8640" y="1904800"/>
            <a:ext cx="2857200" cy="304768"/>
          </a:xfrm>
          <a:prstGeom prst="rect">
            <a:avLst/>
          </a:prstGeom>
          <a:solidFill>
            <a:srgbClr val="142A2E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1976" y="1961944"/>
            <a:ext cx="259052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Microsoft YaHei"/>
              </a:rPr>
              <a:t>进入方式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85840" y="1904800"/>
            <a:ext cx="5333440" cy="304768"/>
          </a:xfrm>
          <a:prstGeom prst="rect">
            <a:avLst/>
          </a:prstGeom>
          <a:solidFill>
            <a:srgbClr val="142A2E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176" y="1961944"/>
            <a:ext cx="506676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Microsoft YaHei"/>
              </a:rPr>
              <a:t>作用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440" y="2209568"/>
            <a:ext cx="2857200" cy="304768"/>
          </a:xfrm>
          <a:prstGeom prst="rect">
            <a:avLst/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776" y="2266712"/>
            <a:ext cx="259052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  <a:latin typeface="Consolas"/>
              </a:rPr>
              <a:t>stable system prompt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8640" y="2209568"/>
            <a:ext cx="2857200" cy="304768"/>
          </a:xfrm>
          <a:prstGeom prst="rect">
            <a:avLst/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1976" y="2266712"/>
            <a:ext cx="259052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7B8"/>
                </a:solidFill>
                <a:latin typeface="Microsoft YaHei"/>
              </a:rPr>
              <a:t>直接进入 messages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85840" y="2209568"/>
            <a:ext cx="5333440" cy="304768"/>
          </a:xfrm>
          <a:prstGeom prst="rect">
            <a:avLst/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176" y="2266712"/>
            <a:ext cx="506676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7B8"/>
                </a:solidFill>
                <a:latin typeface="Microsoft YaHei"/>
              </a:rPr>
              <a:t>约束回答原则与工具协议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440" y="2514336"/>
            <a:ext cx="2857200" cy="304768"/>
          </a:xfrm>
          <a:prstGeom prst="rect">
            <a:avLst/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776" y="2571480"/>
            <a:ext cx="259052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  <a:latin typeface="Consolas"/>
              </a:rPr>
              <a:t>profile packet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8640" y="2514336"/>
            <a:ext cx="2857200" cy="304768"/>
          </a:xfrm>
          <a:prstGeom prst="rect">
            <a:avLst/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1976" y="2571480"/>
            <a:ext cx="259052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7B8"/>
                </a:solidFill>
                <a:latin typeface="Microsoft YaHei"/>
              </a:rPr>
              <a:t>会话级冻结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85840" y="2514336"/>
            <a:ext cx="5333440" cy="304768"/>
          </a:xfrm>
          <a:prstGeom prst="rect">
            <a:avLst/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176" y="2571480"/>
            <a:ext cx="506676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7B8"/>
                </a:solidFill>
                <a:latin typeface="Microsoft YaHei"/>
              </a:rPr>
              <a:t>persona/profile 稳定，提升 prefix cache 命中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440" y="2819104"/>
            <a:ext cx="2857200" cy="304768"/>
          </a:xfrm>
          <a:prstGeom prst="rect">
            <a:avLst/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776" y="2876248"/>
            <a:ext cx="259052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  <a:latin typeface="Consolas"/>
              </a:rPr>
              <a:t>session history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28640" y="2819104"/>
            <a:ext cx="2857200" cy="304768"/>
          </a:xfrm>
          <a:prstGeom prst="rect">
            <a:avLst/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1976" y="2876248"/>
            <a:ext cx="259052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7B8"/>
                </a:solidFill>
                <a:latin typeface="Microsoft YaHei"/>
              </a:rPr>
              <a:t>最近 N 轮直接进入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85840" y="2819104"/>
            <a:ext cx="5333440" cy="304768"/>
          </a:xfrm>
          <a:prstGeom prst="rect">
            <a:avLst/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176" y="2876248"/>
            <a:ext cx="506676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7B8"/>
                </a:solidFill>
                <a:latin typeface="Microsoft YaHei"/>
              </a:rPr>
              <a:t>当前对话连续性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1440" y="3123872"/>
            <a:ext cx="2857200" cy="304768"/>
          </a:xfrm>
          <a:prstGeom prst="rect">
            <a:avLst/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776" y="3181016"/>
            <a:ext cx="259052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  <a:latin typeface="Consolas"/>
              </a:rPr>
              <a:t>window observations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28640" y="3123872"/>
            <a:ext cx="2857200" cy="304768"/>
          </a:xfrm>
          <a:prstGeom prst="rect">
            <a:avLst/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1976" y="3181016"/>
            <a:ext cx="259052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7B8"/>
                </a:solidFill>
                <a:latin typeface="Microsoft YaHei"/>
              </a:rPr>
              <a:t>通过 memory.search 调取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85840" y="3123872"/>
            <a:ext cx="5333440" cy="304768"/>
          </a:xfrm>
          <a:prstGeom prst="rect">
            <a:avLst/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176" y="3181016"/>
            <a:ext cx="506676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7B8"/>
                </a:solidFill>
                <a:latin typeface="Microsoft YaHei"/>
              </a:rPr>
              <a:t>窗口/页面/代码/截图相关回答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1440" y="3428640"/>
            <a:ext cx="2857200" cy="304768"/>
          </a:xfrm>
          <a:prstGeom prst="rect">
            <a:avLst/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776" y="3485784"/>
            <a:ext cx="259052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  <a:latin typeface="Consolas"/>
              </a:rPr>
              <a:t>memory items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28640" y="3428640"/>
            <a:ext cx="2857200" cy="304768"/>
          </a:xfrm>
          <a:prstGeom prst="rect">
            <a:avLst/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61976" y="3485784"/>
            <a:ext cx="259052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7B8"/>
                </a:solidFill>
                <a:latin typeface="Microsoft YaHei"/>
              </a:rPr>
              <a:t>近期尾部 + 检索候选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85840" y="3428640"/>
            <a:ext cx="5333440" cy="304768"/>
          </a:xfrm>
          <a:prstGeom prst="rect">
            <a:avLst/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19176" y="3485784"/>
            <a:ext cx="506676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7B8"/>
                </a:solidFill>
                <a:latin typeface="Microsoft YaHei"/>
              </a:rPr>
              <a:t>用户偏好、任务事实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1440" y="3733408"/>
            <a:ext cx="2857200" cy="304768"/>
          </a:xfrm>
          <a:prstGeom prst="rect">
            <a:avLst/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776" y="3790552"/>
            <a:ext cx="259052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  <a:latin typeface="Consolas"/>
              </a:rPr>
              <a:t>cross-session chat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28640" y="3733408"/>
            <a:ext cx="2857200" cy="304768"/>
          </a:xfrm>
          <a:prstGeom prst="rect">
            <a:avLst/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61976" y="3790552"/>
            <a:ext cx="259052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7B8"/>
                </a:solidFill>
                <a:latin typeface="Microsoft YaHei"/>
              </a:rPr>
              <a:t>chat_history_fts 检索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85840" y="3733408"/>
            <a:ext cx="5333440" cy="304768"/>
          </a:xfrm>
          <a:prstGeom prst="rect">
            <a:avLst/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19176" y="3790552"/>
            <a:ext cx="506676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7B8"/>
                </a:solidFill>
                <a:latin typeface="Microsoft YaHei"/>
              </a:rPr>
              <a:t>找回历史讨论与结论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71440" y="4762000"/>
            <a:ext cx="3619120" cy="1142880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2872" y="4895336"/>
            <a:ext cx="3276256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DD0E1"/>
                </a:solidFill>
                <a:latin typeface="Microsoft YaHei"/>
              </a:rPr>
              <a:t>会话级冻结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2872" y="5181056"/>
            <a:ext cx="3276256" cy="66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7B8"/>
                </a:solidFill>
                <a:latin typeface="Microsoft YaHei"/>
              </a:rPr>
              <a:t>ChatAgent 在首次 ask 时冻结 profile_packet 字符串，整个会话内复用同一对象。字节级一致是 KV cache 命中的前提。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33420" y="4762000"/>
            <a:ext cx="3619120" cy="1142880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04852" y="4895336"/>
            <a:ext cx="3276256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DD0E1"/>
                </a:solidFill>
                <a:latin typeface="Microsoft YaHei"/>
              </a:rPr>
              <a:t>上下文预算边界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04852" y="5181056"/>
            <a:ext cx="3276256" cy="66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7B8"/>
                </a:solidFill>
                <a:latin typeface="Microsoft YaHei"/>
              </a:rPr>
              <a:t>预算只在模型调用边界生效，不在存储层生效。SQLite 不做破坏性字符截断——完整字段进库。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95400" y="4762000"/>
            <a:ext cx="3619120" cy="1142880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66832" y="4895336"/>
            <a:ext cx="3276256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DD0E1"/>
                </a:solidFill>
                <a:latin typeface="Microsoft YaHei"/>
              </a:rPr>
              <a:t>跨会话检索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66832" y="5181056"/>
            <a:ext cx="3276256" cy="66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7B8"/>
                </a:solidFill>
                <a:latin typeface="Microsoft YaHei"/>
              </a:rPr>
              <a:t>对话结束时写入持久 chat_history_fts；下次会话只通过工具按需检索，不全量注入。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0720" cy="685728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440" y="304768"/>
            <a:ext cx="571440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Microsoft YaHei"/>
              </a:rPr>
              <a:t>08 · 工程决策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6880" y="304768"/>
            <a:ext cx="95240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9AA7B8"/>
                </a:solidFill>
                <a:latin typeface="Microsoft YaHei"/>
              </a:rPr>
              <a:t>09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440" y="666680"/>
            <a:ext cx="11047840" cy="47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  <a:latin typeface="Microsoft YaHei"/>
              </a:rPr>
              <a:t>关键工程决策：删掉了什么、为什么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440" y="1238120"/>
            <a:ext cx="11047840" cy="57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AA7B8"/>
                </a:solidFill>
                <a:latin typeface="Microsoft YaHei"/>
              </a:rPr>
              <a:t>这个项目最有价值的不只是做了什么，更是明确删掉了什么。每一条删除都对应一次踩坑。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440" y="1904800"/>
            <a:ext cx="5428680" cy="1380980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1920" y="2038136"/>
            <a:ext cx="5047720" cy="247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7B72"/>
                </a:solidFill>
                <a:latin typeface="Microsoft YaHei"/>
              </a:rPr>
              <a:t>废弃：独立 planner / orchestrator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920" y="2361952"/>
            <a:ext cx="5047720" cy="809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7B8"/>
                </a:solidFill>
                <a:latin typeface="Microsoft YaHei"/>
              </a:rPr>
              <a:t>让一个模型先规划工具、另一个模型回答，链路长且不可控。改为单 ChatAgent 内部 probe → stream。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600" y="1904800"/>
            <a:ext cx="5428680" cy="1380980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1080" y="2038136"/>
            <a:ext cx="5047720" cy="247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7B72"/>
                </a:solidFill>
                <a:latin typeface="Microsoft YaHei"/>
              </a:rPr>
              <a:t>废弃：多工具设计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1080" y="2361952"/>
            <a:ext cx="5047720" cy="809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7B8"/>
                </a:solidFill>
                <a:latin typeface="Microsoft YaHei"/>
              </a:rPr>
              <a:t>screen.look、memory.remember 等多工具让小 VLM 决策更不稳定。收敛为唯一工具 memory.search。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440" y="3400068"/>
            <a:ext cx="5428680" cy="1380980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920" y="3533404"/>
            <a:ext cx="5047720" cy="247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7B72"/>
                </a:solidFill>
                <a:latin typeface="Microsoft YaHei"/>
              </a:rPr>
              <a:t>废弃：LLM reranker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920" y="3857220"/>
            <a:ext cx="5047720" cy="809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7B8"/>
                </a:solidFill>
                <a:latin typeface="Microsoft YaHei"/>
              </a:rPr>
              <a:t>用同一 MiniCPM-V 做 reranker 形成连锁失败。改用 BM25，毫秒级、确定性。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600" y="3400068"/>
            <a:ext cx="5428680" cy="1380980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1080" y="3533404"/>
            <a:ext cx="5047720" cy="247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7B72"/>
                </a:solidFill>
                <a:latin typeface="Microsoft YaHei"/>
              </a:rPr>
              <a:t>废弃：关键词路由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1080" y="3857220"/>
            <a:ext cx="5047720" cy="809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7B8"/>
                </a:solidFill>
                <a:latin typeface="Microsoft YaHei"/>
              </a:rPr>
              <a:t>if "左边" in query 这类固定方位裁剪、substring 情绪判断——硬编码业务理解，脆弱且不可审计。改用 FTS5 BM25。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440" y="4895336"/>
            <a:ext cx="5428680" cy="1380980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1920" y="5028672"/>
            <a:ext cx="5047720" cy="247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7B72"/>
                </a:solidFill>
                <a:latin typeface="Microsoft YaHei"/>
              </a:rPr>
              <a:t>废弃：默认注入窗口观察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920" y="5352488"/>
            <a:ext cx="5047720" cy="809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7B8"/>
                </a:solidFill>
                <a:latin typeface="Microsoft YaHei"/>
              </a:rPr>
              <a:t>曾经把 latest_analysis 默认塞进对话 prompt。改为默认不注入，模型按需调用工具取证，避免上下文污染。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600" y="4895336"/>
            <a:ext cx="5428680" cy="1380980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1080" y="5028672"/>
            <a:ext cx="5047720" cy="247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7B72"/>
                </a:solidFill>
                <a:latin typeface="Microsoft YaHei"/>
              </a:rPr>
              <a:t>废弃：增大 max_tokens 掩盖问题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1080" y="5352488"/>
            <a:ext cx="5047720" cy="809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7B8"/>
                </a:solidFill>
                <a:latin typeface="Microsoft YaHei"/>
              </a:rPr>
              <a:t>曾把 analyze_max_tokens 从 8192 提到 16384 "解决"截断。实际是 prompt 字段下限过高导致模型退化填充。回归 8192。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0720" cy="685728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440" y="304768"/>
            <a:ext cx="571440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Microsoft YaHei"/>
              </a:rPr>
              <a:t>09 · 技术栈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6880" y="304768"/>
            <a:ext cx="95240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9AA7B8"/>
                </a:solidFill>
                <a:latin typeface="Microsoft YaHei"/>
              </a:rPr>
              <a:t>10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440" y="666680"/>
            <a:ext cx="11047840" cy="47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  <a:latin typeface="Microsoft YaHei"/>
              </a:rPr>
              <a:t>技术栈：纯本地、零外部依赖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440" y="1238120"/>
            <a:ext cx="11047840" cy="57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AA7B8"/>
                </a:solidFill>
                <a:latin typeface="Microsoft YaHei"/>
              </a:rPr>
              <a:t>所有组件运行在本机，不依赖任何云服务或外部数据库。这是 local-first 隐私设计的硬约束。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440" y="1904800"/>
            <a:ext cx="3047680" cy="304768"/>
          </a:xfrm>
          <a:prstGeom prst="rect">
            <a:avLst/>
          </a:prstGeom>
          <a:solidFill>
            <a:srgbClr val="142A2E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776" y="1961944"/>
            <a:ext cx="278100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Microsoft YaHei"/>
              </a:rPr>
              <a:t>层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9120" y="1904800"/>
            <a:ext cx="4190560" cy="304768"/>
          </a:xfrm>
          <a:prstGeom prst="rect">
            <a:avLst/>
          </a:prstGeom>
          <a:solidFill>
            <a:srgbClr val="142A2E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52456" y="1961944"/>
            <a:ext cx="392388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Microsoft YaHei"/>
              </a:rPr>
              <a:t>技术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9680" y="1904800"/>
            <a:ext cx="3809600" cy="304768"/>
          </a:xfrm>
          <a:prstGeom prst="rect">
            <a:avLst/>
          </a:prstGeom>
          <a:solidFill>
            <a:srgbClr val="142A2E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43016" y="1961944"/>
            <a:ext cx="354292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Microsoft YaHei"/>
              </a:rPr>
              <a:t>选型理由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440" y="2209568"/>
            <a:ext cx="3047680" cy="304768"/>
          </a:xfrm>
          <a:prstGeom prst="rect">
            <a:avLst/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776" y="2266712"/>
            <a:ext cx="278100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EDF3"/>
                </a:solidFill>
                <a:latin typeface="Microsoft YaHei"/>
              </a:rPr>
              <a:t>后端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19120" y="2209568"/>
            <a:ext cx="4190560" cy="304768"/>
          </a:xfrm>
          <a:prstGeom prst="rect">
            <a:avLst/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52456" y="2266712"/>
            <a:ext cx="392388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7B8"/>
                </a:solidFill>
                <a:latin typeface="Microsoft YaHei"/>
              </a:rPr>
              <a:t>Python 3.11+ / FastAPI / Pydantic / uvicorn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09680" y="2209568"/>
            <a:ext cx="3809600" cy="304768"/>
          </a:xfrm>
          <a:prstGeom prst="rect">
            <a:avLst/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43016" y="2266712"/>
            <a:ext cx="354292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7B8"/>
                </a:solidFill>
                <a:latin typeface="Microsoft YaHei"/>
              </a:rPr>
              <a:t>轻量、SSE 友好、与 ML 生态一致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440" y="2514336"/>
            <a:ext cx="3047680" cy="304768"/>
          </a:xfrm>
          <a:prstGeom prst="rect">
            <a:avLst/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776" y="2571480"/>
            <a:ext cx="278100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EDF3"/>
                </a:solidFill>
                <a:latin typeface="Microsoft YaHei"/>
              </a:rPr>
              <a:t>本地存储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19120" y="2514336"/>
            <a:ext cx="4190560" cy="304768"/>
          </a:xfrm>
          <a:prstGeom prst="rect">
            <a:avLst/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52456" y="2571480"/>
            <a:ext cx="392388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7B8"/>
                </a:solidFill>
                <a:latin typeface="Microsoft YaHei"/>
              </a:rPr>
              <a:t>SQLite RuntimeStore / FTS5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09680" y="2514336"/>
            <a:ext cx="3809600" cy="304768"/>
          </a:xfrm>
          <a:prstGeom prst="rect">
            <a:avLst/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43016" y="2571480"/>
            <a:ext cx="354292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7B8"/>
                </a:solidFill>
                <a:latin typeface="Microsoft YaHei"/>
              </a:rPr>
              <a:t>零外部 DB 依赖，单文件可备份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440" y="2819104"/>
            <a:ext cx="3047680" cy="304768"/>
          </a:xfrm>
          <a:prstGeom prst="rect">
            <a:avLst/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776" y="2876248"/>
            <a:ext cx="278100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EDF3"/>
                </a:solidFill>
                <a:latin typeface="Microsoft YaHei"/>
              </a:rPr>
              <a:t>检索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19120" y="2819104"/>
            <a:ext cx="4190560" cy="304768"/>
          </a:xfrm>
          <a:prstGeom prst="rect">
            <a:avLst/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52456" y="2876248"/>
            <a:ext cx="392388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7B8"/>
                </a:solidFill>
                <a:latin typeface="Microsoft YaHei"/>
              </a:rPr>
              <a:t>SQLite FTS5 + BM25 / 中文 bigram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09680" y="2819104"/>
            <a:ext cx="3809600" cy="304768"/>
          </a:xfrm>
          <a:prstGeom prst="rect">
            <a:avLst/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43016" y="2876248"/>
            <a:ext cx="354292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7B8"/>
                </a:solidFill>
                <a:latin typeface="Microsoft YaHei"/>
              </a:rPr>
              <a:t>毫秒级、确定性、无外部分词器依赖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1440" y="3123872"/>
            <a:ext cx="3047680" cy="304768"/>
          </a:xfrm>
          <a:prstGeom prst="rect">
            <a:avLst/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776" y="3181016"/>
            <a:ext cx="278100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EDF3"/>
                </a:solidFill>
                <a:latin typeface="Microsoft YaHei"/>
              </a:rPr>
              <a:t>模型运行时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19120" y="3123872"/>
            <a:ext cx="4190560" cy="304768"/>
          </a:xfrm>
          <a:prstGeom prst="rect">
            <a:avLst/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52456" y="3181016"/>
            <a:ext cx="392388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7B8"/>
                </a:solidFill>
                <a:latin typeface="Microsoft YaHei"/>
              </a:rPr>
              <a:t>llama.cpp llama-server / OpenAI API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09680" y="3123872"/>
            <a:ext cx="3809600" cy="304768"/>
          </a:xfrm>
          <a:prstGeom prst="rect">
            <a:avLst/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43016" y="3181016"/>
            <a:ext cx="354292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7B8"/>
                </a:solidFill>
                <a:latin typeface="Microsoft YaHei"/>
              </a:rPr>
              <a:t>CPU/GPU 本地推理，协议兼容 OpenAI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1440" y="3428640"/>
            <a:ext cx="3047680" cy="304768"/>
          </a:xfrm>
          <a:prstGeom prst="rect">
            <a:avLst/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776" y="3485784"/>
            <a:ext cx="278100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EDF3"/>
                </a:solidFill>
                <a:latin typeface="Microsoft YaHei"/>
              </a:rPr>
              <a:t>视觉模型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19120" y="3428640"/>
            <a:ext cx="4190560" cy="304768"/>
          </a:xfrm>
          <a:prstGeom prst="rect">
            <a:avLst/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52456" y="3485784"/>
            <a:ext cx="392388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7B8"/>
                </a:solidFill>
                <a:latin typeface="Microsoft YaHei"/>
              </a:rPr>
              <a:t>MiniCPM-V 4.6 GGUF / 256K context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09680" y="3428640"/>
            <a:ext cx="3809600" cy="304768"/>
          </a:xfrm>
          <a:prstGeom prst="rect">
            <a:avLst/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43016" y="3485784"/>
            <a:ext cx="354292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7B8"/>
                </a:solidFill>
                <a:latin typeface="Microsoft YaHei"/>
              </a:rPr>
              <a:t>开源小 VLM，支持截图输入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1440" y="3733408"/>
            <a:ext cx="3047680" cy="304768"/>
          </a:xfrm>
          <a:prstGeom prst="rect">
            <a:avLst/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776" y="3790552"/>
            <a:ext cx="278100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EDF3"/>
                </a:solidFill>
                <a:latin typeface="Microsoft YaHei"/>
              </a:rPr>
              <a:t>桌面 UI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19120" y="3733408"/>
            <a:ext cx="4190560" cy="304768"/>
          </a:xfrm>
          <a:prstGeom prst="rect">
            <a:avLst/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52456" y="3790552"/>
            <a:ext cx="392388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7B8"/>
                </a:solidFill>
                <a:latin typeface="Microsoft YaHei"/>
              </a:rPr>
              <a:t>Python + Win32 / 透明置顶悬浮窗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09680" y="3733408"/>
            <a:ext cx="3809600" cy="304768"/>
          </a:xfrm>
          <a:prstGeom prst="rect">
            <a:avLst/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43016" y="3790552"/>
            <a:ext cx="354292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7B8"/>
                </a:solidFill>
                <a:latin typeface="Microsoft YaHei"/>
              </a:rPr>
              <a:t>原生低打扰，5 种状态机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1440" y="4038176"/>
            <a:ext cx="3047680" cy="304768"/>
          </a:xfrm>
          <a:prstGeom prst="rect">
            <a:avLst/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4776" y="4095320"/>
            <a:ext cx="278100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EDF3"/>
                </a:solidFill>
                <a:latin typeface="Microsoft YaHei"/>
              </a:rPr>
              <a:t>WebUI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19120" y="4038176"/>
            <a:ext cx="4190560" cy="304768"/>
          </a:xfrm>
          <a:prstGeom prst="rect">
            <a:avLst/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52456" y="4095320"/>
            <a:ext cx="392388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7B8"/>
                </a:solidFill>
                <a:latin typeface="Microsoft YaHei"/>
              </a:rPr>
              <a:t>原生 HTML/CSS/JS / SSE 流式对话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09680" y="4038176"/>
            <a:ext cx="3809600" cy="304768"/>
          </a:xfrm>
          <a:prstGeom prst="rect">
            <a:avLst/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43016" y="4095320"/>
            <a:ext cx="354292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7B8"/>
                </a:solidFill>
                <a:latin typeface="Microsoft YaHei"/>
              </a:rPr>
              <a:t>调试面板，可观测、可清空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1440" y="4342944"/>
            <a:ext cx="3047680" cy="304768"/>
          </a:xfrm>
          <a:prstGeom prst="rect">
            <a:avLst/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4776" y="4400088"/>
            <a:ext cx="278100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EDF3"/>
                </a:solidFill>
                <a:latin typeface="Microsoft YaHei"/>
              </a:rPr>
              <a:t>测试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19120" y="4342944"/>
            <a:ext cx="4190560" cy="304768"/>
          </a:xfrm>
          <a:prstGeom prst="rect">
            <a:avLst/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52456" y="4400088"/>
            <a:ext cx="392388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7B8"/>
                </a:solidFill>
                <a:latin typeface="Microsoft YaHei"/>
              </a:rPr>
              <a:t>pytest / service-level + API route tests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809680" y="4342944"/>
            <a:ext cx="3809600" cy="304768"/>
          </a:xfrm>
          <a:prstGeom prst="rect">
            <a:avLst/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943016" y="4400088"/>
            <a:ext cx="354292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7B8"/>
                </a:solidFill>
                <a:latin typeface="Microsoft YaHei"/>
              </a:rPr>
              <a:t>覆盖 ChatAgent / memory / window / API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71440" y="5142960"/>
            <a:ext cx="1209548" cy="285720"/>
          </a:xfrm>
          <a:prstGeom prst="roundRect">
            <a:avLst>
              <a:gd name="adj" fmla="val 50000"/>
            </a:avLst>
          </a:prstGeom>
          <a:solidFill>
            <a:srgbClr val="141F2E"/>
          </a:solidFill>
          <a:ln w="9525">
            <a:solidFill>
              <a:srgbClr val="2E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71440" y="5200104"/>
            <a:ext cx="120954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7C9EFF"/>
                </a:solidFill>
                <a:latin typeface="Microsoft YaHei"/>
              </a:rPr>
              <a:t>Windows 10+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876228" y="5142960"/>
            <a:ext cx="1295264" cy="285720"/>
          </a:xfrm>
          <a:prstGeom prst="roundRect">
            <a:avLst>
              <a:gd name="adj" fmla="val 50000"/>
            </a:avLst>
          </a:prstGeom>
          <a:solidFill>
            <a:srgbClr val="141F2E"/>
          </a:solidFill>
          <a:ln w="9525">
            <a:solidFill>
              <a:srgbClr val="2E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876228" y="5200104"/>
            <a:ext cx="1295264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7C9EFF"/>
                </a:solidFill>
                <a:latin typeface="Microsoft YaHei"/>
              </a:rPr>
              <a:t>Python 3.11+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266732" y="5142960"/>
            <a:ext cx="866684" cy="285720"/>
          </a:xfrm>
          <a:prstGeom prst="roundRect">
            <a:avLst>
              <a:gd name="adj" fmla="val 50000"/>
            </a:avLst>
          </a:prstGeom>
          <a:solidFill>
            <a:srgbClr val="141F2E"/>
          </a:solidFill>
          <a:ln w="9525">
            <a:solidFill>
              <a:srgbClr val="2E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66732" y="5200104"/>
            <a:ext cx="866684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7C9EFF"/>
                </a:solidFill>
                <a:latin typeface="Microsoft YaHei"/>
              </a:rPr>
              <a:t>FastAPI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228656" y="5142960"/>
            <a:ext cx="1380980" cy="285720"/>
          </a:xfrm>
          <a:prstGeom prst="roundRect">
            <a:avLst>
              <a:gd name="adj" fmla="val 50000"/>
            </a:avLst>
          </a:prstGeom>
          <a:solidFill>
            <a:srgbClr val="141F2E"/>
          </a:solidFill>
          <a:ln w="9525">
            <a:solidFill>
              <a:srgbClr val="2E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228656" y="5200104"/>
            <a:ext cx="1380980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7C9EFF"/>
                </a:solidFill>
                <a:latin typeface="Microsoft YaHei"/>
              </a:rPr>
              <a:t>SQLite + FTS5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704876" y="5142960"/>
            <a:ext cx="1380980" cy="285720"/>
          </a:xfrm>
          <a:prstGeom prst="roundRect">
            <a:avLst>
              <a:gd name="adj" fmla="val 50000"/>
            </a:avLst>
          </a:prstGeom>
          <a:solidFill>
            <a:srgbClr val="141F2E"/>
          </a:solidFill>
          <a:ln w="9525">
            <a:solidFill>
              <a:srgbClr val="2E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704876" y="5200104"/>
            <a:ext cx="1380980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7C9EFF"/>
                </a:solidFill>
                <a:latin typeface="Microsoft YaHei"/>
              </a:rPr>
              <a:t>MiniCPM-V 4.6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181096" y="5142960"/>
            <a:ext cx="1038116" cy="285720"/>
          </a:xfrm>
          <a:prstGeom prst="roundRect">
            <a:avLst>
              <a:gd name="adj" fmla="val 50000"/>
            </a:avLst>
          </a:prstGeom>
          <a:solidFill>
            <a:srgbClr val="141F2E"/>
          </a:solidFill>
          <a:ln w="9525">
            <a:solidFill>
              <a:srgbClr val="2E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181096" y="5200104"/>
            <a:ext cx="1038116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7C9EFF"/>
                </a:solidFill>
                <a:latin typeface="Microsoft YaHei"/>
              </a:rPr>
              <a:t>llama.cpp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314452" y="5142960"/>
            <a:ext cx="1038116" cy="285720"/>
          </a:xfrm>
          <a:prstGeom prst="roundRect">
            <a:avLst>
              <a:gd name="adj" fmla="val 50000"/>
            </a:avLst>
          </a:prstGeom>
          <a:solidFill>
            <a:srgbClr val="141F2E"/>
          </a:solidFill>
          <a:ln w="9525">
            <a:solidFill>
              <a:srgbClr val="2E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314452" y="5200104"/>
            <a:ext cx="1038116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7C9EFF"/>
                </a:solidFill>
                <a:latin typeface="Microsoft YaHei"/>
              </a:rPr>
              <a:t>Win32 API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447808" y="5142960"/>
            <a:ext cx="780968" cy="285720"/>
          </a:xfrm>
          <a:prstGeom prst="roundRect">
            <a:avLst>
              <a:gd name="adj" fmla="val 50000"/>
            </a:avLst>
          </a:prstGeom>
          <a:solidFill>
            <a:srgbClr val="141F2E"/>
          </a:solidFill>
          <a:ln w="9525">
            <a:solidFill>
              <a:srgbClr val="2E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447808" y="5200104"/>
            <a:ext cx="78096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7C9EFF"/>
                </a:solidFill>
                <a:latin typeface="Microsoft YaHei"/>
              </a:rPr>
              <a:t>pytest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0720" cy="685728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440" y="304768"/>
            <a:ext cx="571440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Microsoft YaHei"/>
              </a:rPr>
              <a:t>10 · 进展与路线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6880" y="304768"/>
            <a:ext cx="95240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9AA7B8"/>
                </a:solidFill>
                <a:latin typeface="Microsoft YaHei"/>
              </a:rPr>
              <a:t>11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440" y="666680"/>
            <a:ext cx="11047840" cy="47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  <a:latin typeface="Microsoft YaHei"/>
              </a:rPr>
              <a:t>当前进展与下一步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440" y="1238120"/>
            <a:ext cx="11047840" cy="57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AA7B8"/>
                </a:solidFill>
                <a:latin typeface="Microsoft YaHei"/>
              </a:rPr>
              <a:t>核心主线已全部落地。当前重点是把本地链路打磨稳定，而不是堆新功能。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440" y="1904800"/>
            <a:ext cx="11047840" cy="342864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1920" y="2038136"/>
            <a:ext cx="133336" cy="133336"/>
          </a:xfrm>
          <a:prstGeom prst="ellipse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640" y="1990516"/>
            <a:ext cx="1009544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AA7B8"/>
                </a:solidFill>
                <a:latin typeface="Microsoft YaHei"/>
              </a:rPr>
              <a:t>桌宠悬浮窗与 5 种状态（Idle / Observing / Analyzing / Privacy / Error）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5920" y="1990516"/>
            <a:ext cx="123812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7EE787"/>
                </a:solidFill>
                <a:latin typeface="Microsoft YaHei"/>
              </a:rPr>
              <a:t>已完成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440" y="2304808"/>
            <a:ext cx="11047840" cy="342864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1920" y="2438144"/>
            <a:ext cx="133336" cy="133336"/>
          </a:xfrm>
          <a:prstGeom prst="ellipse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7640" y="2390524"/>
            <a:ext cx="1009544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AA7B8"/>
                </a:solidFill>
                <a:latin typeface="Microsoft YaHei"/>
              </a:rPr>
              <a:t>FastAPI 后端与 SQLite RuntimeStore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5920" y="2390524"/>
            <a:ext cx="123812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7EE787"/>
                </a:solidFill>
                <a:latin typeface="Microsoft YaHei"/>
              </a:rPr>
              <a:t>已完成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440" y="2704816"/>
            <a:ext cx="11047840" cy="342864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1920" y="2838152"/>
            <a:ext cx="133336" cy="133336"/>
          </a:xfrm>
          <a:prstGeom prst="ellipse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7640" y="2790532"/>
            <a:ext cx="1009544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AA7B8"/>
                </a:solidFill>
                <a:latin typeface="Microsoft YaHei"/>
              </a:rPr>
              <a:t>MiniCPM-V 窗口结构化观察（含失败分型与 schema 收敛）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5920" y="2790532"/>
            <a:ext cx="123812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7EE787"/>
                </a:solidFill>
                <a:latin typeface="Microsoft YaHei"/>
              </a:rPr>
              <a:t>已完成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440" y="3104824"/>
            <a:ext cx="11047840" cy="342864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1920" y="3238160"/>
            <a:ext cx="133336" cy="133336"/>
          </a:xfrm>
          <a:prstGeom prst="ellipse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7640" y="3190540"/>
            <a:ext cx="1009544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AA7B8"/>
                </a:solidFill>
                <a:latin typeface="Microsoft YaHei"/>
              </a:rPr>
              <a:t>memory.search(query) 单工具主线 + FTS5 BM25 ranker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5920" y="3190540"/>
            <a:ext cx="123812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7EE787"/>
                </a:solidFill>
                <a:latin typeface="Microsoft YaHei"/>
              </a:rPr>
              <a:t>已完成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440" y="3504832"/>
            <a:ext cx="11047840" cy="342864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1920" y="3638168"/>
            <a:ext cx="133336" cy="133336"/>
          </a:xfrm>
          <a:prstGeom prst="ellipse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7640" y="3590548"/>
            <a:ext cx="1009544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AA7B8"/>
                </a:solidFill>
                <a:latin typeface="Microsoft YaHei"/>
              </a:rPr>
              <a:t>probe → stream 职责分离与流式工具调用循环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5920" y="3590548"/>
            <a:ext cx="123812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7EE787"/>
                </a:solidFill>
                <a:latin typeface="Microsoft YaHei"/>
              </a:rPr>
              <a:t>已完成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1440" y="3904840"/>
            <a:ext cx="11047840" cy="342864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61920" y="4038176"/>
            <a:ext cx="133336" cy="133336"/>
          </a:xfrm>
          <a:prstGeom prst="ellipse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7640" y="3990556"/>
            <a:ext cx="1009544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AA7B8"/>
                </a:solidFill>
                <a:latin typeface="Microsoft YaHei"/>
              </a:rPr>
              <a:t>跨会话对话 FTS5 索引 + runtime logs / tool traces / reset-all 调试接口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5920" y="3990556"/>
            <a:ext cx="123812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7EE787"/>
                </a:solidFill>
                <a:latin typeface="Microsoft YaHei"/>
              </a:rPr>
              <a:t>已完成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1440" y="4304848"/>
            <a:ext cx="11047840" cy="342864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1920" y="4438184"/>
            <a:ext cx="133336" cy="133336"/>
          </a:xfrm>
          <a:prstGeom prst="ellipse">
            <a:avLst/>
          </a:prstGeom>
          <a:solidFill>
            <a:srgbClr val="FFB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7640" y="4390564"/>
            <a:ext cx="1009544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Microsoft YaHei"/>
              </a:rPr>
              <a:t>工具结果按 token 预算裁剪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5920" y="4390564"/>
            <a:ext cx="123812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B86B"/>
                </a:solidFill>
                <a:latin typeface="Microsoft YaHei"/>
              </a:rPr>
              <a:t>下一步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1440" y="4704856"/>
            <a:ext cx="11047840" cy="342864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61920" y="4838192"/>
            <a:ext cx="133336" cy="133336"/>
          </a:xfrm>
          <a:prstGeom prst="ellipse">
            <a:avLst/>
          </a:prstGeom>
          <a:solidFill>
            <a:srgbClr val="FFB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7640" y="4790572"/>
            <a:ext cx="1009544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Microsoft YaHei"/>
              </a:rPr>
              <a:t>观察质量评估（20 个真实窗口样本）+ 演示 GIF / 视频录制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85920" y="4790572"/>
            <a:ext cx="123812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B86B"/>
                </a:solidFill>
                <a:latin typeface="Microsoft YaHei"/>
              </a:rPr>
              <a:t>下一步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1440" y="5104864"/>
            <a:ext cx="11047840" cy="342864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61920" y="5238200"/>
            <a:ext cx="133336" cy="133336"/>
          </a:xfrm>
          <a:prstGeom prst="ellipse">
            <a:avLst/>
          </a:prstGeom>
          <a:solidFill>
            <a:srgbClr val="FFB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7640" y="5190580"/>
            <a:ext cx="1009544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Microsoft YaHei"/>
              </a:rPr>
              <a:t>多显示器与窗口选择体验增强 · Rive 动画迁移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85920" y="5190580"/>
            <a:ext cx="123812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B86B"/>
                </a:solidFill>
                <a:latin typeface="Microsoft YaHei"/>
              </a:rPr>
              <a:t>下一步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0720" cy="685728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440" y="304768"/>
            <a:ext cx="571440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Microsoft YaHei"/>
              </a:rPr>
              <a:t>11 · 运行方式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6880" y="304768"/>
            <a:ext cx="95240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9AA7B8"/>
                </a:solidFill>
                <a:latin typeface="Microsoft YaHei"/>
              </a:rPr>
              <a:t>12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440" y="666680"/>
            <a:ext cx="11047840" cy="47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  <a:latin typeface="Microsoft YaHei"/>
              </a:rPr>
              <a:t>如何跑起来：一键启动 + WebUI 调试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440" y="1428600"/>
            <a:ext cx="5714400" cy="1904800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016" y="1600032"/>
            <a:ext cx="285720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DD0E1"/>
                </a:solidFill>
                <a:latin typeface="Microsoft YaHei"/>
              </a:rPr>
              <a:t>一键启动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016" y="1923848"/>
            <a:ext cx="5257248" cy="952400"/>
          </a:xfrm>
          <a:prstGeom prst="rect">
            <a:avLst/>
          </a:prstGeom>
          <a:solidFill>
            <a:srgbClr val="0E1116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" y="214"/>
            <a:ext cx="520" cy="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00">
                <a:solidFill>
                  <a:srgbClr val="C9D4E3"/>
                </a:solidFill>
                <a:latin typeface="Consolas"/>
              </a:rPr>
              <a:t># Windows PowerShell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C9D4E3"/>
                </a:solidFill>
                <a:latin typeface="Consolas"/>
              </a:rPr>
              <a:t>cd D:\AI_Workspace\window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C9D4E3"/>
                </a:solidFill>
                <a:latin typeface="Consolas"/>
              </a:rPr>
              <a:t>.\scripts\start_dev.cmd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C9D4E3"/>
                </a:solidFill>
                <a:latin typeface="Consolas"/>
              </a:rPr>
              <a:t> 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C9D4E3"/>
                </a:solidFill>
                <a:latin typeface="Consolas"/>
              </a:rPr>
              <a:t># 启动前自检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C9D4E3"/>
                </a:solidFill>
                <a:latin typeface="Consolas"/>
              </a:rPr>
              <a:t>python .\scripts\check_environment.py --for-start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16" y="3000060"/>
            <a:ext cx="5257248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7B8"/>
                </a:solidFill>
                <a:latin typeface="Microsoft YaHei"/>
              </a:rPr>
              <a:t>脚本会拉起 FastAPI 后端 + llama-server 模型服务 + 桌宠悬浮窗。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04880" y="1428600"/>
            <a:ext cx="5714400" cy="1904800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33456" y="1600032"/>
            <a:ext cx="285720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DD0E1"/>
                </a:solidFill>
                <a:latin typeface="Microsoft YaHei"/>
              </a:rPr>
              <a:t>WebUI 调试入口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33456" y="1923848"/>
            <a:ext cx="5257248" cy="1238120"/>
          </a:xfrm>
          <a:prstGeom prst="rect">
            <a:avLst/>
          </a:prstGeom>
          <a:solidFill>
            <a:srgbClr val="0E1116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" y="214"/>
            <a:ext cx="520" cy="1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00">
                <a:solidFill>
                  <a:srgbClr val="C9D4E3"/>
                </a:solidFill>
                <a:latin typeface="Consolas"/>
              </a:rPr>
              <a:t># 调试控制台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C9D4E3"/>
                </a:solidFill>
                <a:latin typeface="Consolas"/>
              </a:rPr>
              <a:t>http://127.0.0.1:18081/webui/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C9D4E3"/>
                </a:solidFill>
                <a:latin typeface="Consolas"/>
              </a:rPr>
              <a:t>http://127.0.0.1:18081/docs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C9D4E3"/>
                </a:solidFill>
                <a:latin typeface="Consolas"/>
              </a:rPr>
              <a:t> 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C9D4E3"/>
                </a:solidFill>
                <a:latin typeface="Consolas"/>
              </a:rPr>
              <a:t># 关键调试 API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C9D4E3"/>
                </a:solidFill>
                <a:latin typeface="Consolas"/>
              </a:rPr>
              <a:t>GET  /api/webui/observations/latest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C9D4E3"/>
                </a:solidFill>
                <a:latin typeface="Consolas"/>
              </a:rPr>
              <a:t>GET  /api/webui/tool-traces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C9D4E3"/>
                </a:solidFill>
                <a:latin typeface="Consolas"/>
              </a:rPr>
              <a:t>POST /api/webui/reset-all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440" y="3619120"/>
            <a:ext cx="11047840" cy="2190520"/>
          </a:xfrm>
          <a:prstGeom prst="roundRect">
            <a:avLst>
              <a:gd name="adj" fmla="val 8000"/>
            </a:avLst>
          </a:prstGeom>
          <a:solidFill>
            <a:srgbClr val="121F24"/>
          </a:solidFill>
          <a:ln w="9525">
            <a:solidFill>
              <a:srgbClr val="2E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16" y="3790552"/>
            <a:ext cx="285720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DD0E1"/>
                </a:solidFill>
                <a:latin typeface="Microsoft YaHei"/>
              </a:rPr>
              <a:t>典型运行流程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016" y="4285800"/>
            <a:ext cx="1980992" cy="1047640"/>
          </a:xfrm>
          <a:prstGeom prst="roundRect">
            <a:avLst>
              <a:gd name="adj" fmla="val 8000"/>
            </a:avLst>
          </a:prstGeom>
          <a:solidFill>
            <a:srgbClr val="121F24"/>
          </a:solidFill>
          <a:ln w="9525">
            <a:solidFill>
              <a:srgbClr val="2E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304" y="4419136"/>
            <a:ext cx="1752416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DF3"/>
                </a:solidFill>
                <a:latin typeface="Microsoft YaHei"/>
              </a:rPr>
              <a:t>1 · 启动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304" y="4685808"/>
            <a:ext cx="1752416" cy="57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7B8"/>
                </a:solidFill>
                <a:latin typeface="Microsoft YaHei"/>
              </a:rPr>
              <a:t>start_dev.cmd → 后端 + 模型 + 浮窗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1008" y="4666760"/>
            <a:ext cx="171432" cy="28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4DD0E1"/>
                </a:solidFill>
                <a:latin typeface="Microsoft YaHe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52440" y="4285800"/>
            <a:ext cx="1980992" cy="1047640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66728" y="4419136"/>
            <a:ext cx="1752416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DF3"/>
                </a:solidFill>
                <a:latin typeface="Microsoft YaHei"/>
              </a:rPr>
              <a:t>2 · 自动观察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6728" y="4685808"/>
            <a:ext cx="1752416" cy="57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7B8"/>
                </a:solidFill>
                <a:latin typeface="Microsoft YaHei"/>
              </a:rPr>
              <a:t>watcher 后台截图 → VLM → SQLite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3432" y="4666760"/>
            <a:ext cx="171432" cy="28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4DD0E1"/>
                </a:solidFill>
                <a:latin typeface="Microsoft YaHe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04864" y="4285800"/>
            <a:ext cx="1980992" cy="1047640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9152" y="4419136"/>
            <a:ext cx="1752416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DF3"/>
                </a:solidFill>
                <a:latin typeface="Microsoft YaHei"/>
              </a:rPr>
              <a:t>3 · 用户提问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9152" y="4685808"/>
            <a:ext cx="1752416" cy="57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7B8"/>
                </a:solidFill>
                <a:latin typeface="Microsoft YaHei"/>
              </a:rPr>
              <a:t>点"点击提问" → 暂停观察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5856" y="4666760"/>
            <a:ext cx="171432" cy="28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4DD0E1"/>
                </a:solidFill>
                <a:latin typeface="Microsoft YaHe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57288" y="4285800"/>
            <a:ext cx="1980992" cy="1047640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71576" y="4419136"/>
            <a:ext cx="1752416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DF3"/>
                </a:solidFill>
                <a:latin typeface="Microsoft YaHei"/>
              </a:rPr>
              <a:t>4 · 取证回答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1576" y="4685808"/>
            <a:ext cx="1752416" cy="57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7B8"/>
                </a:solidFill>
                <a:latin typeface="Microsoft YaHei"/>
              </a:rPr>
              <a:t>probe → memory.search → stream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8280" y="4666760"/>
            <a:ext cx="171432" cy="28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4DD0E1"/>
                </a:solidFill>
                <a:latin typeface="Microsoft YaHei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09712" y="4285800"/>
            <a:ext cx="1980992" cy="1047640"/>
          </a:xfrm>
          <a:prstGeom prst="roundRect">
            <a:avLst>
              <a:gd name="adj" fmla="val 8000"/>
            </a:avLst>
          </a:prstGeom>
          <a:solidFill>
            <a:srgbClr val="1C2230"/>
          </a:solidFill>
          <a:ln w="952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24000" y="4419136"/>
            <a:ext cx="1752416" cy="209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DF3"/>
                </a:solidFill>
                <a:latin typeface="Microsoft YaHei"/>
              </a:rPr>
              <a:t>5 · 调试复盘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24000" y="4685808"/>
            <a:ext cx="1752416" cy="57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A7B8"/>
                </a:solidFill>
                <a:latin typeface="Microsoft YaHei"/>
              </a:rPr>
              <a:t>WebUI 看 trace / 截图 / logs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0720" cy="685728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440" y="304768"/>
            <a:ext cx="571440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DD0E1"/>
                </a:solidFill>
                <a:latin typeface="Microsoft YaHei"/>
              </a:rPr>
              <a:t>12 · 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6880" y="304768"/>
            <a:ext cx="952400" cy="22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9AA7B8"/>
                </a:solidFill>
                <a:latin typeface="Microsoft YaHei"/>
              </a:rPr>
              <a:t>13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360" y="2285760"/>
            <a:ext cx="9524000" cy="1238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4000" b="1">
                <a:solidFill>
                  <a:srgbClr val="E6EDF3"/>
                </a:solidFill>
                <a:latin typeface="Microsoft YaHei"/>
              </a:rPr>
              <a:t>三条主线，</a:t>
            </a:r>
            <a:r>
              <a:rPr sz="4000" b="1">
                <a:solidFill>
                  <a:srgbClr val="4DD0E1"/>
                </a:solidFill>
                <a:latin typeface="Microsoft YaHei"/>
              </a:rPr>
              <a:t>一个工具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360" y="3238160"/>
            <a:ext cx="9524000" cy="9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60000"/>
              </a:lnSpc>
              <a:spcAft>
                <a:spcPts val="0"/>
              </a:spcAft>
            </a:pPr>
            <a:r>
              <a:rPr sz="1400" b="0">
                <a:solidFill>
                  <a:srgbClr val="9AA7B8"/>
                </a:solidFill>
                <a:latin typeface="Microsoft YaHei"/>
              </a:rPr>
              <a:t>观察线产生证据 · 对话线按需取证 · 调试线全程可审计。</a:t>
            </a:r>
          </a:p>
          <a:p>
            <a:pPr algn="ctr">
              <a:lnSpc>
                <a:spcPct val="160000"/>
              </a:lnSpc>
              <a:spcAft>
                <a:spcPts val="0"/>
              </a:spcAft>
            </a:pPr>
            <a:r>
              <a:rPr sz="1400" b="0">
                <a:solidFill>
                  <a:srgbClr val="9AA7B8"/>
                </a:solidFill>
                <a:latin typeface="Microsoft YaHei"/>
              </a:rPr>
              <a:t>模型只看到一个工具 </a:t>
            </a:r>
            <a:r>
              <a:rPr sz="1400" b="1">
                <a:solidFill>
                  <a:srgbClr val="7C9EFF"/>
                </a:solidFill>
                <a:latin typeface="Consolas"/>
              </a:rPr>
              <a:t>memory.search(query)</a:t>
            </a:r>
            <a:r>
              <a:rPr sz="1400" b="0">
                <a:solidFill>
                  <a:srgbClr val="9AA7B8"/>
                </a:solidFill>
                <a:latin typeface="Microsoft YaHei"/>
              </a:rPr>
              <a:t>，主链路不行就明确失败，不堆 fallback。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360" y="4571520"/>
            <a:ext cx="9524000" cy="9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9AA7B8"/>
                </a:solidFill>
                <a:latin typeface="Microsoft YaHei"/>
              </a:rPr>
              <a:t>Local · Windows · Privacy-first</a:t>
            </a:r>
          </a:p>
          <a:p>
            <a:pPr algn="ctr">
              <a:lnSpc>
                <a:spcPct val="115000"/>
              </a:lnSpc>
              <a:spcAft>
                <a:spcPts val="1200"/>
              </a:spcAft>
            </a:pPr>
            <a:r>
              <a:rPr sz="1200" b="0">
                <a:solidFill>
                  <a:srgbClr val="9AA7B8"/>
                </a:solidFill>
                <a:latin typeface="Microsoft YaHei"/>
              </a:rPr>
              <a:t>Made by 宋林蔚 · github.com/fjnuslw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AA7B8"/>
                </a:solidFill>
                <a:latin typeface="Microsoft YaHei"/>
              </a:rPr>
              <a:t>谢谢，欢迎提问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